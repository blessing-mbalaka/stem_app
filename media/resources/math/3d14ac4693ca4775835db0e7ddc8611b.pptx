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68" r:id="rId2"/>
    <p:sldId id="409" r:id="rId3"/>
    <p:sldId id="420" r:id="rId4"/>
    <p:sldId id="432" r:id="rId5"/>
    <p:sldId id="434" r:id="rId6"/>
    <p:sldId id="435" r:id="rId7"/>
    <p:sldId id="421" r:id="rId8"/>
    <p:sldId id="429" r:id="rId9"/>
    <p:sldId id="427" r:id="rId10"/>
    <p:sldId id="428" r:id="rId11"/>
    <p:sldId id="430" r:id="rId12"/>
    <p:sldId id="433" r:id="rId13"/>
    <p:sldId id="423" r:id="rId14"/>
    <p:sldId id="419" r:id="rId15"/>
  </p:sldIdLst>
  <p:sldSz cx="12192000" cy="6858000"/>
  <p:notesSz cx="6669088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ston.C" initials="W" lastIdx="1" clrIdx="0">
    <p:extLst>
      <p:ext uri="{19B8F6BF-5375-455C-9EA6-DF929625EA0E}">
        <p15:presenceInfo xmlns:p15="http://schemas.microsoft.com/office/powerpoint/2012/main" userId="S-1-5-21-1035630543-1431987748-622671684-2508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04C78A-91EA-4B4E-97FE-A620DFB51B83}" v="44" dt="2020-11-23T13:40:56.8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60"/>
  </p:normalViewPr>
  <p:slideViewPr>
    <p:cSldViewPr>
      <p:cViewPr varScale="1">
        <p:scale>
          <a:sx n="73" d="100"/>
          <a:sy n="73" d="100"/>
        </p:scale>
        <p:origin x="9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ina Labuscagne" userId="e417116797c401a7" providerId="LiveId" clId="{E804C78A-91EA-4B4E-97FE-A620DFB51B83}"/>
    <pc:docChg chg="modSld">
      <pc:chgData name="Carina Labuscagne" userId="e417116797c401a7" providerId="LiveId" clId="{E804C78A-91EA-4B4E-97FE-A620DFB51B83}" dt="2020-11-23T13:46:17.764" v="45" actId="20577"/>
      <pc:docMkLst>
        <pc:docMk/>
      </pc:docMkLst>
      <pc:sldChg chg="modSp">
        <pc:chgData name="Carina Labuscagne" userId="e417116797c401a7" providerId="LiveId" clId="{E804C78A-91EA-4B4E-97FE-A620DFB51B83}" dt="2020-11-23T13:40:56.888" v="43" actId="20577"/>
        <pc:sldMkLst>
          <pc:docMk/>
          <pc:sldMk cId="1472060432" sldId="424"/>
        </pc:sldMkLst>
        <pc:graphicFrameChg chg="mod">
          <ac:chgData name="Carina Labuscagne" userId="e417116797c401a7" providerId="LiveId" clId="{E804C78A-91EA-4B4E-97FE-A620DFB51B83}" dt="2020-11-23T13:40:56.888" v="43" actId="20577"/>
          <ac:graphicFrameMkLst>
            <pc:docMk/>
            <pc:sldMk cId="1472060432" sldId="424"/>
            <ac:graphicFrameMk id="6" creationId="{78068DD7-2647-4036-83A2-608B069C08E7}"/>
          </ac:graphicFrameMkLst>
        </pc:graphicFrameChg>
      </pc:sldChg>
      <pc:sldChg chg="modSp mod">
        <pc:chgData name="Carina Labuscagne" userId="e417116797c401a7" providerId="LiveId" clId="{E804C78A-91EA-4B4E-97FE-A620DFB51B83}" dt="2020-11-23T13:41:40.670" v="44" actId="6549"/>
        <pc:sldMkLst>
          <pc:docMk/>
          <pc:sldMk cId="1788933990" sldId="425"/>
        </pc:sldMkLst>
        <pc:graphicFrameChg chg="modGraphic">
          <ac:chgData name="Carina Labuscagne" userId="e417116797c401a7" providerId="LiveId" clId="{E804C78A-91EA-4B4E-97FE-A620DFB51B83}" dt="2020-11-23T13:41:40.670" v="44" actId="6549"/>
          <ac:graphicFrameMkLst>
            <pc:docMk/>
            <pc:sldMk cId="1788933990" sldId="425"/>
            <ac:graphicFrameMk id="4" creationId="{80770888-2D0F-42D0-BA57-9694DB394233}"/>
          </ac:graphicFrameMkLst>
        </pc:graphicFrameChg>
      </pc:sldChg>
      <pc:sldChg chg="modSp mod">
        <pc:chgData name="Carina Labuscagne" userId="e417116797c401a7" providerId="LiveId" clId="{E804C78A-91EA-4B4E-97FE-A620DFB51B83}" dt="2020-11-23T13:46:17.764" v="45" actId="20577"/>
        <pc:sldMkLst>
          <pc:docMk/>
          <pc:sldMk cId="2683105781" sldId="426"/>
        </pc:sldMkLst>
        <pc:graphicFrameChg chg="modGraphic">
          <ac:chgData name="Carina Labuscagne" userId="e417116797c401a7" providerId="LiveId" clId="{E804C78A-91EA-4B4E-97FE-A620DFB51B83}" dt="2020-11-23T13:46:17.764" v="45" actId="20577"/>
          <ac:graphicFrameMkLst>
            <pc:docMk/>
            <pc:sldMk cId="2683105781" sldId="426"/>
            <ac:graphicFrameMk id="4" creationId="{75EF175F-8714-4E58-BD0D-FAC436E4F0E5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6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DAF715-D316-49A8-90FF-942871C9DFC6}" type="doc">
      <dgm:prSet loTypeId="urn:microsoft.com/office/officeart/2018/2/layout/IconVerticalSolidList" loCatId="icon" qsTypeId="urn:microsoft.com/office/officeart/2005/8/quickstyle/simple5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4291E6BF-7078-443A-A608-1BB857106C7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b="1" dirty="0" smtClean="0"/>
            <a:t>Purpose</a:t>
          </a:r>
          <a:endParaRPr lang="en-US" sz="2400" b="1" dirty="0"/>
        </a:p>
      </dgm:t>
    </dgm:pt>
    <dgm:pt modelId="{AB052AE3-282A-4609-9E64-FF5F648900D1}" type="parTrans" cxnId="{4DA975DC-BFE7-4F8C-958E-26C7F07B42DA}">
      <dgm:prSet/>
      <dgm:spPr/>
      <dgm:t>
        <a:bodyPr/>
        <a:lstStyle/>
        <a:p>
          <a:endParaRPr lang="en-US"/>
        </a:p>
      </dgm:t>
    </dgm:pt>
    <dgm:pt modelId="{FA1730C7-6D66-4650-ACBC-8AF0976990EE}" type="sibTrans" cxnId="{4DA975DC-BFE7-4F8C-958E-26C7F07B42DA}">
      <dgm:prSet/>
      <dgm:spPr/>
      <dgm:t>
        <a:bodyPr/>
        <a:lstStyle/>
        <a:p>
          <a:endParaRPr lang="en-US"/>
        </a:p>
      </dgm:t>
    </dgm:pt>
    <dgm:pt modelId="{0F745F8A-F0CF-41E3-899D-6DBA441297D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ZA" sz="2400" b="1" dirty="0"/>
            <a:t>Amendments to the Annual Teaching Plan (ATP)</a:t>
          </a:r>
          <a:endParaRPr lang="en-US" sz="2400" b="1" dirty="0"/>
        </a:p>
      </dgm:t>
    </dgm:pt>
    <dgm:pt modelId="{EF5C1358-7972-4EB3-BEF4-E281B01A22AA}" type="parTrans" cxnId="{8489EB8F-4F88-4EEA-A08E-11CFAB3BA473}">
      <dgm:prSet/>
      <dgm:spPr/>
      <dgm:t>
        <a:bodyPr/>
        <a:lstStyle/>
        <a:p>
          <a:endParaRPr lang="en-US"/>
        </a:p>
      </dgm:t>
    </dgm:pt>
    <dgm:pt modelId="{19D6B0D3-BAE1-401D-A4AF-B83C9A4A0571}" type="sibTrans" cxnId="{8489EB8F-4F88-4EEA-A08E-11CFAB3BA473}">
      <dgm:prSet/>
      <dgm:spPr/>
      <dgm:t>
        <a:bodyPr/>
        <a:lstStyle/>
        <a:p>
          <a:endParaRPr lang="en-US"/>
        </a:p>
      </dgm:t>
    </dgm:pt>
    <dgm:pt modelId="{2C1555C1-B84B-44BA-A543-11D90E20996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ZA" sz="2400" b="1" dirty="0"/>
            <a:t>Amendments to School Based Assessment (SBA)</a:t>
          </a:r>
          <a:endParaRPr lang="en-US" sz="2400" b="1" dirty="0"/>
        </a:p>
      </dgm:t>
    </dgm:pt>
    <dgm:pt modelId="{644896EE-EE6B-48BE-800E-7DA21ED3A59C}" type="parTrans" cxnId="{65B61AEB-1FE1-4584-B129-54BE07E6808D}">
      <dgm:prSet/>
      <dgm:spPr/>
      <dgm:t>
        <a:bodyPr/>
        <a:lstStyle/>
        <a:p>
          <a:endParaRPr lang="en-US"/>
        </a:p>
      </dgm:t>
    </dgm:pt>
    <dgm:pt modelId="{10B50C5E-565F-4D90-81D4-2A29EBF9220D}" type="sibTrans" cxnId="{65B61AEB-1FE1-4584-B129-54BE07E6808D}">
      <dgm:prSet/>
      <dgm:spPr/>
      <dgm:t>
        <a:bodyPr/>
        <a:lstStyle/>
        <a:p>
          <a:endParaRPr lang="en-US"/>
        </a:p>
      </dgm:t>
    </dgm:pt>
    <dgm:pt modelId="{9122A35F-FCDA-40DA-B5F6-07870CF5E77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ZA" sz="2400" b="1" dirty="0"/>
            <a:t>Conclusion</a:t>
          </a:r>
          <a:endParaRPr lang="en-US" sz="2400" b="1" dirty="0"/>
        </a:p>
      </dgm:t>
    </dgm:pt>
    <dgm:pt modelId="{7E15D000-57F7-4EA3-A4A8-CD0CCD4BF32C}" type="parTrans" cxnId="{769DBCC9-0DB8-4D7F-A06E-2035B90CCB7B}">
      <dgm:prSet/>
      <dgm:spPr/>
      <dgm:t>
        <a:bodyPr/>
        <a:lstStyle/>
        <a:p>
          <a:endParaRPr lang="en-US"/>
        </a:p>
      </dgm:t>
    </dgm:pt>
    <dgm:pt modelId="{5ED84CD7-A953-466E-BC8E-34973AC271D5}" type="sibTrans" cxnId="{769DBCC9-0DB8-4D7F-A06E-2035B90CCB7B}">
      <dgm:prSet/>
      <dgm:spPr/>
      <dgm:t>
        <a:bodyPr/>
        <a:lstStyle/>
        <a:p>
          <a:endParaRPr lang="en-US"/>
        </a:p>
      </dgm:t>
    </dgm:pt>
    <dgm:pt modelId="{FE130778-5323-4935-A7F5-44B4AE5DA77B}" type="pres">
      <dgm:prSet presAssocID="{28DAF715-D316-49A8-90FF-942871C9DFC6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ZA"/>
        </a:p>
      </dgm:t>
    </dgm:pt>
    <dgm:pt modelId="{1985FB73-7DEB-409C-8814-3ED9D2074A60}" type="pres">
      <dgm:prSet presAssocID="{4291E6BF-7078-443A-A608-1BB857106C7B}" presName="compNode" presStyleCnt="0"/>
      <dgm:spPr/>
    </dgm:pt>
    <dgm:pt modelId="{8F5528C5-4F7F-4C52-B3A2-5B50F922A3A1}" type="pres">
      <dgm:prSet presAssocID="{4291E6BF-7078-443A-A608-1BB857106C7B}" presName="bgRect" presStyleLbl="bgShp" presStyleIdx="0" presStyleCnt="4"/>
      <dgm:spPr/>
    </dgm:pt>
    <dgm:pt modelId="{1E9EE1C9-1DA3-493D-89F4-FD9B7A827898}" type="pres">
      <dgm:prSet presAssocID="{4291E6BF-7078-443A-A608-1BB857106C7B}" presName="iconRect" presStyleLbl="node1" presStyleIdx="0" presStyleCnt="4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BE3DD02-FA58-4B4C-BA91-790C73F3670E}" type="pres">
      <dgm:prSet presAssocID="{4291E6BF-7078-443A-A608-1BB857106C7B}" presName="spaceRect" presStyleCnt="0"/>
      <dgm:spPr/>
    </dgm:pt>
    <dgm:pt modelId="{F6F63205-3333-405D-9583-7C63B8DB2E8F}" type="pres">
      <dgm:prSet presAssocID="{4291E6BF-7078-443A-A608-1BB857106C7B}" presName="parTx" presStyleLbl="revTx" presStyleIdx="0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ZA"/>
        </a:p>
      </dgm:t>
    </dgm:pt>
    <dgm:pt modelId="{2F25F839-C896-49DD-9320-2A5D4056A4FD}" type="pres">
      <dgm:prSet presAssocID="{FA1730C7-6D66-4650-ACBC-8AF0976990EE}" presName="sibTrans" presStyleCnt="0"/>
      <dgm:spPr/>
    </dgm:pt>
    <dgm:pt modelId="{C04D6546-EA81-4742-9680-0F5C6DEB6744}" type="pres">
      <dgm:prSet presAssocID="{0F745F8A-F0CF-41E3-899D-6DBA441297DA}" presName="compNode" presStyleCnt="0"/>
      <dgm:spPr/>
    </dgm:pt>
    <dgm:pt modelId="{7C512183-2196-4D0A-B29F-0A3EFC64C556}" type="pres">
      <dgm:prSet presAssocID="{0F745F8A-F0CF-41E3-899D-6DBA441297DA}" presName="bgRect" presStyleLbl="bgShp" presStyleIdx="1" presStyleCnt="4" custLinFactNeighborY="3804"/>
      <dgm:spPr/>
      <dgm:t>
        <a:bodyPr/>
        <a:lstStyle/>
        <a:p>
          <a:endParaRPr lang="en-US"/>
        </a:p>
      </dgm:t>
    </dgm:pt>
    <dgm:pt modelId="{4505C878-3F31-4293-BE44-84460685BC5C}" type="pres">
      <dgm:prSet presAssocID="{0F745F8A-F0CF-41E3-899D-6DBA441297DA}" presName="iconRect" presStyleLbl="node1" presStyleIdx="1" presStyleCnt="4"/>
      <dgm:spPr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A73F67F2-619B-41EC-B6D3-1ED882AE97FA}" type="pres">
      <dgm:prSet presAssocID="{0F745F8A-F0CF-41E3-899D-6DBA441297DA}" presName="spaceRect" presStyleCnt="0"/>
      <dgm:spPr/>
    </dgm:pt>
    <dgm:pt modelId="{40FB03F8-01E2-4E09-B9B3-BFC74F5EC1C1}" type="pres">
      <dgm:prSet presAssocID="{0F745F8A-F0CF-41E3-899D-6DBA441297DA}" presName="parTx" presStyleLbl="revTx" presStyleIdx="1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ZA"/>
        </a:p>
      </dgm:t>
    </dgm:pt>
    <dgm:pt modelId="{F1F11BB4-09E9-4EE8-8059-C25AB53EAABA}" type="pres">
      <dgm:prSet presAssocID="{19D6B0D3-BAE1-401D-A4AF-B83C9A4A0571}" presName="sibTrans" presStyleCnt="0"/>
      <dgm:spPr/>
    </dgm:pt>
    <dgm:pt modelId="{792367F8-3F2C-4663-8D02-D737BA24429C}" type="pres">
      <dgm:prSet presAssocID="{2C1555C1-B84B-44BA-A543-11D90E20996A}" presName="compNode" presStyleCnt="0"/>
      <dgm:spPr/>
    </dgm:pt>
    <dgm:pt modelId="{D4BA3757-1145-4485-AB95-BA0BFC12046B}" type="pres">
      <dgm:prSet presAssocID="{2C1555C1-B84B-44BA-A543-11D90E20996A}" presName="bgRect" presStyleLbl="bgShp" presStyleIdx="2" presStyleCnt="4"/>
      <dgm:spPr/>
    </dgm:pt>
    <dgm:pt modelId="{34D11355-5FB5-4A30-888A-93421271F21C}" type="pres">
      <dgm:prSet presAssocID="{2C1555C1-B84B-44BA-A543-11D90E20996A}" presName="iconRect" presStyleLbl="node1" presStyleIdx="2" presStyleCnt="4"/>
      <dgm:spPr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301BBBC8-8736-4487-A8C3-EEA8E9487A70}" type="pres">
      <dgm:prSet presAssocID="{2C1555C1-B84B-44BA-A543-11D90E20996A}" presName="spaceRect" presStyleCnt="0"/>
      <dgm:spPr/>
    </dgm:pt>
    <dgm:pt modelId="{28776BC9-C8AF-484E-8EEB-4D204AE798BD}" type="pres">
      <dgm:prSet presAssocID="{2C1555C1-B84B-44BA-A543-11D90E20996A}" presName="parTx" presStyleLbl="revTx" presStyleIdx="2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ZA"/>
        </a:p>
      </dgm:t>
    </dgm:pt>
    <dgm:pt modelId="{93D8717E-694A-411F-8D9B-DE15FB48BC9D}" type="pres">
      <dgm:prSet presAssocID="{10B50C5E-565F-4D90-81D4-2A29EBF9220D}" presName="sibTrans" presStyleCnt="0"/>
      <dgm:spPr/>
    </dgm:pt>
    <dgm:pt modelId="{0A916F03-B771-4A31-88AE-0E791D431779}" type="pres">
      <dgm:prSet presAssocID="{9122A35F-FCDA-40DA-B5F6-07870CF5E771}" presName="compNode" presStyleCnt="0"/>
      <dgm:spPr/>
    </dgm:pt>
    <dgm:pt modelId="{BF566023-F19B-4169-B131-F5C5EFF37E29}" type="pres">
      <dgm:prSet presAssocID="{9122A35F-FCDA-40DA-B5F6-07870CF5E771}" presName="bgRect" presStyleLbl="bgShp" presStyleIdx="3" presStyleCnt="4"/>
      <dgm:spPr/>
    </dgm:pt>
    <dgm:pt modelId="{8E3480C4-BF70-4D9A-87F7-9CEA1E13CB85}" type="pres">
      <dgm:prSet presAssocID="{9122A35F-FCDA-40DA-B5F6-07870CF5E771}" presName="iconRect" presStyleLbl="node1" presStyleIdx="3" presStyleCnt="4"/>
      <dgm:spPr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0DFD3746-3FC2-4C98-AABA-D12E3F7B8BE9}" type="pres">
      <dgm:prSet presAssocID="{9122A35F-FCDA-40DA-B5F6-07870CF5E771}" presName="spaceRect" presStyleCnt="0"/>
      <dgm:spPr/>
    </dgm:pt>
    <dgm:pt modelId="{F6AF6918-865B-41B6-A8C5-1E21BADB5981}" type="pres">
      <dgm:prSet presAssocID="{9122A35F-FCDA-40DA-B5F6-07870CF5E771}" presName="parTx" presStyleLbl="revTx" presStyleIdx="3" presStyleCnt="4">
        <dgm:presLayoutVars>
          <dgm:chMax val="0"/>
          <dgm:chPref val="0"/>
        </dgm:presLayoutVars>
      </dgm:prSet>
      <dgm:spPr/>
      <dgm:t>
        <a:bodyPr/>
        <a:lstStyle/>
        <a:p>
          <a:endParaRPr lang="en-ZA"/>
        </a:p>
      </dgm:t>
    </dgm:pt>
  </dgm:ptLst>
  <dgm:cxnLst>
    <dgm:cxn modelId="{4302B97C-B060-4743-B6CE-56BE0B9BF73B}" type="presOf" srcId="{0F745F8A-F0CF-41E3-899D-6DBA441297DA}" destId="{40FB03F8-01E2-4E09-B9B3-BFC74F5EC1C1}" srcOrd="0" destOrd="0" presId="urn:microsoft.com/office/officeart/2018/2/layout/IconVerticalSolidList"/>
    <dgm:cxn modelId="{4DA975DC-BFE7-4F8C-958E-26C7F07B42DA}" srcId="{28DAF715-D316-49A8-90FF-942871C9DFC6}" destId="{4291E6BF-7078-443A-A608-1BB857106C7B}" srcOrd="0" destOrd="0" parTransId="{AB052AE3-282A-4609-9E64-FF5F648900D1}" sibTransId="{FA1730C7-6D66-4650-ACBC-8AF0976990EE}"/>
    <dgm:cxn modelId="{A5289256-1C04-490B-BBC7-8F28D35A3C93}" type="presOf" srcId="{2C1555C1-B84B-44BA-A543-11D90E20996A}" destId="{28776BC9-C8AF-484E-8EEB-4D204AE798BD}" srcOrd="0" destOrd="0" presId="urn:microsoft.com/office/officeart/2018/2/layout/IconVerticalSolidList"/>
    <dgm:cxn modelId="{65B61AEB-1FE1-4584-B129-54BE07E6808D}" srcId="{28DAF715-D316-49A8-90FF-942871C9DFC6}" destId="{2C1555C1-B84B-44BA-A543-11D90E20996A}" srcOrd="2" destOrd="0" parTransId="{644896EE-EE6B-48BE-800E-7DA21ED3A59C}" sibTransId="{10B50C5E-565F-4D90-81D4-2A29EBF9220D}"/>
    <dgm:cxn modelId="{769DBCC9-0DB8-4D7F-A06E-2035B90CCB7B}" srcId="{28DAF715-D316-49A8-90FF-942871C9DFC6}" destId="{9122A35F-FCDA-40DA-B5F6-07870CF5E771}" srcOrd="3" destOrd="0" parTransId="{7E15D000-57F7-4EA3-A4A8-CD0CCD4BF32C}" sibTransId="{5ED84CD7-A953-466E-BC8E-34973AC271D5}"/>
    <dgm:cxn modelId="{8489EB8F-4F88-4EEA-A08E-11CFAB3BA473}" srcId="{28DAF715-D316-49A8-90FF-942871C9DFC6}" destId="{0F745F8A-F0CF-41E3-899D-6DBA441297DA}" srcOrd="1" destOrd="0" parTransId="{EF5C1358-7972-4EB3-BEF4-E281B01A22AA}" sibTransId="{19D6B0D3-BAE1-401D-A4AF-B83C9A4A0571}"/>
    <dgm:cxn modelId="{BFA519AA-AB68-45D9-8949-7A8A28933944}" type="presOf" srcId="{4291E6BF-7078-443A-A608-1BB857106C7B}" destId="{F6F63205-3333-405D-9583-7C63B8DB2E8F}" srcOrd="0" destOrd="0" presId="urn:microsoft.com/office/officeart/2018/2/layout/IconVerticalSolidList"/>
    <dgm:cxn modelId="{25790FAA-9911-42F0-B49F-87009254E10C}" type="presOf" srcId="{28DAF715-D316-49A8-90FF-942871C9DFC6}" destId="{FE130778-5323-4935-A7F5-44B4AE5DA77B}" srcOrd="0" destOrd="0" presId="urn:microsoft.com/office/officeart/2018/2/layout/IconVerticalSolidList"/>
    <dgm:cxn modelId="{433802DF-9A82-466A-B5D6-CA0735BBB293}" type="presOf" srcId="{9122A35F-FCDA-40DA-B5F6-07870CF5E771}" destId="{F6AF6918-865B-41B6-A8C5-1E21BADB5981}" srcOrd="0" destOrd="0" presId="urn:microsoft.com/office/officeart/2018/2/layout/IconVerticalSolidList"/>
    <dgm:cxn modelId="{0B4F81BF-2AF5-4B68-AAF5-837D6281D85E}" type="presParOf" srcId="{FE130778-5323-4935-A7F5-44B4AE5DA77B}" destId="{1985FB73-7DEB-409C-8814-3ED9D2074A60}" srcOrd="0" destOrd="0" presId="urn:microsoft.com/office/officeart/2018/2/layout/IconVerticalSolidList"/>
    <dgm:cxn modelId="{6195C58A-D981-4FB7-BB93-2BF622008FD6}" type="presParOf" srcId="{1985FB73-7DEB-409C-8814-3ED9D2074A60}" destId="{8F5528C5-4F7F-4C52-B3A2-5B50F922A3A1}" srcOrd="0" destOrd="0" presId="urn:microsoft.com/office/officeart/2018/2/layout/IconVerticalSolidList"/>
    <dgm:cxn modelId="{E63E2212-1CAA-411F-8ACC-98EF51F12C44}" type="presParOf" srcId="{1985FB73-7DEB-409C-8814-3ED9D2074A60}" destId="{1E9EE1C9-1DA3-493D-89F4-FD9B7A827898}" srcOrd="1" destOrd="0" presId="urn:microsoft.com/office/officeart/2018/2/layout/IconVerticalSolidList"/>
    <dgm:cxn modelId="{F15FB0E8-34EE-4BBF-936C-E96C5BE5E860}" type="presParOf" srcId="{1985FB73-7DEB-409C-8814-3ED9D2074A60}" destId="{FBE3DD02-FA58-4B4C-BA91-790C73F3670E}" srcOrd="2" destOrd="0" presId="urn:microsoft.com/office/officeart/2018/2/layout/IconVerticalSolidList"/>
    <dgm:cxn modelId="{0FC7F72E-6D1C-47EC-9142-6C5AE49542CC}" type="presParOf" srcId="{1985FB73-7DEB-409C-8814-3ED9D2074A60}" destId="{F6F63205-3333-405D-9583-7C63B8DB2E8F}" srcOrd="3" destOrd="0" presId="urn:microsoft.com/office/officeart/2018/2/layout/IconVerticalSolidList"/>
    <dgm:cxn modelId="{10693A3C-2B58-4F12-B392-9260206214C6}" type="presParOf" srcId="{FE130778-5323-4935-A7F5-44B4AE5DA77B}" destId="{2F25F839-C896-49DD-9320-2A5D4056A4FD}" srcOrd="1" destOrd="0" presId="urn:microsoft.com/office/officeart/2018/2/layout/IconVerticalSolidList"/>
    <dgm:cxn modelId="{79EB345F-3C13-447B-9009-55020C407863}" type="presParOf" srcId="{FE130778-5323-4935-A7F5-44B4AE5DA77B}" destId="{C04D6546-EA81-4742-9680-0F5C6DEB6744}" srcOrd="2" destOrd="0" presId="urn:microsoft.com/office/officeart/2018/2/layout/IconVerticalSolidList"/>
    <dgm:cxn modelId="{1E9F9B89-D3BD-4491-AFC9-3C62970DCC6A}" type="presParOf" srcId="{C04D6546-EA81-4742-9680-0F5C6DEB6744}" destId="{7C512183-2196-4D0A-B29F-0A3EFC64C556}" srcOrd="0" destOrd="0" presId="urn:microsoft.com/office/officeart/2018/2/layout/IconVerticalSolidList"/>
    <dgm:cxn modelId="{BA080979-2200-42E3-88A3-DE6E46985E31}" type="presParOf" srcId="{C04D6546-EA81-4742-9680-0F5C6DEB6744}" destId="{4505C878-3F31-4293-BE44-84460685BC5C}" srcOrd="1" destOrd="0" presId="urn:microsoft.com/office/officeart/2018/2/layout/IconVerticalSolidList"/>
    <dgm:cxn modelId="{C2348823-80BB-4CB9-973A-F8807D472A1E}" type="presParOf" srcId="{C04D6546-EA81-4742-9680-0F5C6DEB6744}" destId="{A73F67F2-619B-41EC-B6D3-1ED882AE97FA}" srcOrd="2" destOrd="0" presId="urn:microsoft.com/office/officeart/2018/2/layout/IconVerticalSolidList"/>
    <dgm:cxn modelId="{11709AD1-809E-4E50-8CC5-0D38B1C9E774}" type="presParOf" srcId="{C04D6546-EA81-4742-9680-0F5C6DEB6744}" destId="{40FB03F8-01E2-4E09-B9B3-BFC74F5EC1C1}" srcOrd="3" destOrd="0" presId="urn:microsoft.com/office/officeart/2018/2/layout/IconVerticalSolidList"/>
    <dgm:cxn modelId="{71DD8A7F-11BC-4DBD-8C12-AD2BC6863B87}" type="presParOf" srcId="{FE130778-5323-4935-A7F5-44B4AE5DA77B}" destId="{F1F11BB4-09E9-4EE8-8059-C25AB53EAABA}" srcOrd="3" destOrd="0" presId="urn:microsoft.com/office/officeart/2018/2/layout/IconVerticalSolidList"/>
    <dgm:cxn modelId="{DA994F7B-A064-49FF-86D1-B8B6E89E6500}" type="presParOf" srcId="{FE130778-5323-4935-A7F5-44B4AE5DA77B}" destId="{792367F8-3F2C-4663-8D02-D737BA24429C}" srcOrd="4" destOrd="0" presId="urn:microsoft.com/office/officeart/2018/2/layout/IconVerticalSolidList"/>
    <dgm:cxn modelId="{A57F52BA-191A-4D84-A10F-B175E7F83B6E}" type="presParOf" srcId="{792367F8-3F2C-4663-8D02-D737BA24429C}" destId="{D4BA3757-1145-4485-AB95-BA0BFC12046B}" srcOrd="0" destOrd="0" presId="urn:microsoft.com/office/officeart/2018/2/layout/IconVerticalSolidList"/>
    <dgm:cxn modelId="{74BA3DBD-2319-4E1F-871E-4A7E89267F6D}" type="presParOf" srcId="{792367F8-3F2C-4663-8D02-D737BA24429C}" destId="{34D11355-5FB5-4A30-888A-93421271F21C}" srcOrd="1" destOrd="0" presId="urn:microsoft.com/office/officeart/2018/2/layout/IconVerticalSolidList"/>
    <dgm:cxn modelId="{28F82FAA-4B6E-403F-87E0-912F6412C8B8}" type="presParOf" srcId="{792367F8-3F2C-4663-8D02-D737BA24429C}" destId="{301BBBC8-8736-4487-A8C3-EEA8E9487A70}" srcOrd="2" destOrd="0" presId="urn:microsoft.com/office/officeart/2018/2/layout/IconVerticalSolidList"/>
    <dgm:cxn modelId="{5FB7B9ED-4BF0-4E81-A552-62EBC7F5020A}" type="presParOf" srcId="{792367F8-3F2C-4663-8D02-D737BA24429C}" destId="{28776BC9-C8AF-484E-8EEB-4D204AE798BD}" srcOrd="3" destOrd="0" presId="urn:microsoft.com/office/officeart/2018/2/layout/IconVerticalSolidList"/>
    <dgm:cxn modelId="{0B1ED002-7582-4D9A-A516-86A4B35AB2AE}" type="presParOf" srcId="{FE130778-5323-4935-A7F5-44B4AE5DA77B}" destId="{93D8717E-694A-411F-8D9B-DE15FB48BC9D}" srcOrd="5" destOrd="0" presId="urn:microsoft.com/office/officeart/2018/2/layout/IconVerticalSolidList"/>
    <dgm:cxn modelId="{8BABB762-AA63-4752-AA01-43FEBEE8FB31}" type="presParOf" srcId="{FE130778-5323-4935-A7F5-44B4AE5DA77B}" destId="{0A916F03-B771-4A31-88AE-0E791D431779}" srcOrd="6" destOrd="0" presId="urn:microsoft.com/office/officeart/2018/2/layout/IconVerticalSolidList"/>
    <dgm:cxn modelId="{2868D129-6B17-4774-AA6D-5FBACD586FA7}" type="presParOf" srcId="{0A916F03-B771-4A31-88AE-0E791D431779}" destId="{BF566023-F19B-4169-B131-F5C5EFF37E29}" srcOrd="0" destOrd="0" presId="urn:microsoft.com/office/officeart/2018/2/layout/IconVerticalSolidList"/>
    <dgm:cxn modelId="{A96F63EC-659C-4560-8155-71BD3276CC69}" type="presParOf" srcId="{0A916F03-B771-4A31-88AE-0E791D431779}" destId="{8E3480C4-BF70-4D9A-87F7-9CEA1E13CB85}" srcOrd="1" destOrd="0" presId="urn:microsoft.com/office/officeart/2018/2/layout/IconVerticalSolidList"/>
    <dgm:cxn modelId="{95A9ED1F-E038-4129-803F-1DE0D769DDB6}" type="presParOf" srcId="{0A916F03-B771-4A31-88AE-0E791D431779}" destId="{0DFD3746-3FC2-4C98-AABA-D12E3F7B8BE9}" srcOrd="2" destOrd="0" presId="urn:microsoft.com/office/officeart/2018/2/layout/IconVerticalSolidList"/>
    <dgm:cxn modelId="{CDB5027C-D4D5-41E4-8311-2198077E14E5}" type="presParOf" srcId="{0A916F03-B771-4A31-88AE-0E791D431779}" destId="{F6AF6918-865B-41B6-A8C5-1E21BADB598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5528C5-4F7F-4C52-B3A2-5B50F922A3A1}">
      <dsp:nvSpPr>
        <dsp:cNvPr id="0" name=""/>
        <dsp:cNvSpPr/>
      </dsp:nvSpPr>
      <dsp:spPr>
        <a:xfrm>
          <a:off x="0" y="2009"/>
          <a:ext cx="10225136" cy="1018608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E9EE1C9-1DA3-493D-89F4-FD9B7A827898}">
      <dsp:nvSpPr>
        <dsp:cNvPr id="0" name=""/>
        <dsp:cNvSpPr/>
      </dsp:nvSpPr>
      <dsp:spPr>
        <a:xfrm>
          <a:off x="308128" y="231196"/>
          <a:ext cx="560234" cy="560234"/>
        </a:xfrm>
        <a:prstGeom prst="rect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6F63205-3333-405D-9583-7C63B8DB2E8F}">
      <dsp:nvSpPr>
        <dsp:cNvPr id="0" name=""/>
        <dsp:cNvSpPr/>
      </dsp:nvSpPr>
      <dsp:spPr>
        <a:xfrm>
          <a:off x="1176492" y="2009"/>
          <a:ext cx="9048643" cy="1018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3" tIns="107803" rIns="107803" bIns="107803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Purpose</a:t>
          </a:r>
          <a:endParaRPr lang="en-US" sz="2400" b="1" kern="1200" dirty="0"/>
        </a:p>
      </dsp:txBody>
      <dsp:txXfrm>
        <a:off x="1176492" y="2009"/>
        <a:ext cx="9048643" cy="1018608"/>
      </dsp:txXfrm>
    </dsp:sp>
    <dsp:sp modelId="{7C512183-2196-4D0A-B29F-0A3EFC64C556}">
      <dsp:nvSpPr>
        <dsp:cNvPr id="0" name=""/>
        <dsp:cNvSpPr/>
      </dsp:nvSpPr>
      <dsp:spPr>
        <a:xfrm>
          <a:off x="0" y="1314017"/>
          <a:ext cx="10225136" cy="1018608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505C878-3F31-4293-BE44-84460685BC5C}">
      <dsp:nvSpPr>
        <dsp:cNvPr id="0" name=""/>
        <dsp:cNvSpPr/>
      </dsp:nvSpPr>
      <dsp:spPr>
        <a:xfrm>
          <a:off x="308128" y="1504456"/>
          <a:ext cx="560234" cy="560234"/>
        </a:xfrm>
        <a:prstGeom prst="rect">
          <a:avLst/>
        </a:prstGeom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0FB03F8-01E2-4E09-B9B3-BFC74F5EC1C1}">
      <dsp:nvSpPr>
        <dsp:cNvPr id="0" name=""/>
        <dsp:cNvSpPr/>
      </dsp:nvSpPr>
      <dsp:spPr>
        <a:xfrm>
          <a:off x="1176492" y="1275269"/>
          <a:ext cx="9048643" cy="1018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3" tIns="107803" rIns="107803" bIns="107803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ZA" sz="2400" b="1" kern="1200" dirty="0"/>
            <a:t>Amendments to the Annual Teaching Plan (ATP)</a:t>
          </a:r>
          <a:endParaRPr lang="en-US" sz="2400" b="1" kern="1200" dirty="0"/>
        </a:p>
      </dsp:txBody>
      <dsp:txXfrm>
        <a:off x="1176492" y="1275269"/>
        <a:ext cx="9048643" cy="1018608"/>
      </dsp:txXfrm>
    </dsp:sp>
    <dsp:sp modelId="{D4BA3757-1145-4485-AB95-BA0BFC12046B}">
      <dsp:nvSpPr>
        <dsp:cNvPr id="0" name=""/>
        <dsp:cNvSpPr/>
      </dsp:nvSpPr>
      <dsp:spPr>
        <a:xfrm>
          <a:off x="0" y="2548530"/>
          <a:ext cx="10225136" cy="1018608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4D11355-5FB5-4A30-888A-93421271F21C}">
      <dsp:nvSpPr>
        <dsp:cNvPr id="0" name=""/>
        <dsp:cNvSpPr/>
      </dsp:nvSpPr>
      <dsp:spPr>
        <a:xfrm>
          <a:off x="308128" y="2777716"/>
          <a:ext cx="560234" cy="560234"/>
        </a:xfrm>
        <a:prstGeom prst="rect">
          <a:avLst/>
        </a:prstGeom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8776BC9-C8AF-484E-8EEB-4D204AE798BD}">
      <dsp:nvSpPr>
        <dsp:cNvPr id="0" name=""/>
        <dsp:cNvSpPr/>
      </dsp:nvSpPr>
      <dsp:spPr>
        <a:xfrm>
          <a:off x="1176492" y="2548530"/>
          <a:ext cx="9048643" cy="1018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3" tIns="107803" rIns="107803" bIns="107803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ZA" sz="2400" b="1" kern="1200" dirty="0"/>
            <a:t>Amendments to School Based Assessment (SBA)</a:t>
          </a:r>
          <a:endParaRPr lang="en-US" sz="2400" b="1" kern="1200" dirty="0"/>
        </a:p>
      </dsp:txBody>
      <dsp:txXfrm>
        <a:off x="1176492" y="2548530"/>
        <a:ext cx="9048643" cy="1018608"/>
      </dsp:txXfrm>
    </dsp:sp>
    <dsp:sp modelId="{BF566023-F19B-4169-B131-F5C5EFF37E29}">
      <dsp:nvSpPr>
        <dsp:cNvPr id="0" name=""/>
        <dsp:cNvSpPr/>
      </dsp:nvSpPr>
      <dsp:spPr>
        <a:xfrm>
          <a:off x="0" y="3821790"/>
          <a:ext cx="10225136" cy="1018608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E3480C4-BF70-4D9A-87F7-9CEA1E13CB85}">
      <dsp:nvSpPr>
        <dsp:cNvPr id="0" name=""/>
        <dsp:cNvSpPr/>
      </dsp:nvSpPr>
      <dsp:spPr>
        <a:xfrm>
          <a:off x="308128" y="4050976"/>
          <a:ext cx="560234" cy="560234"/>
        </a:xfrm>
        <a:prstGeom prst="rect">
          <a:avLst/>
        </a:prstGeom>
        <a:blipFill>
          <a:blip xmlns:r="http://schemas.openxmlformats.org/officeDocument/2006/relationships"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6AF6918-865B-41B6-A8C5-1E21BADB5981}">
      <dsp:nvSpPr>
        <dsp:cNvPr id="0" name=""/>
        <dsp:cNvSpPr/>
      </dsp:nvSpPr>
      <dsp:spPr>
        <a:xfrm>
          <a:off x="1176492" y="3821790"/>
          <a:ext cx="9048643" cy="10186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803" tIns="107803" rIns="107803" bIns="107803" numCol="1" spcCol="1270" anchor="ctr" anchorCtr="0">
          <a:noAutofit/>
        </a:bodyPr>
        <a:lstStyle/>
        <a:p>
          <a:pPr lvl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ZA" sz="2400" b="1" kern="1200" dirty="0"/>
            <a:t>Conclusion</a:t>
          </a:r>
          <a:endParaRPr lang="en-US" sz="2400" b="1" kern="1200" dirty="0"/>
        </a:p>
      </dsp:txBody>
      <dsp:txXfrm>
        <a:off x="1176492" y="3821790"/>
        <a:ext cx="9048643" cy="10186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436C3-F297-4507-AD6A-42E143A858E3}" type="datetimeFigureOut">
              <a:rPr lang="en-ZA" smtClean="0"/>
              <a:t>2023/01/22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1787A3-EB87-4540-80C9-A55CA918FEA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08405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D700E-0E32-497F-85DE-E2CB7C14ACE5}" type="datetimeFigureOut">
              <a:rPr lang="en-ZA" smtClean="0"/>
              <a:t>2023/01/22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88" y="744538"/>
            <a:ext cx="661511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15153"/>
            <a:ext cx="533527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3"/>
            <a:ext cx="2889938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75EAEA-ECB5-438F-8F0C-E412682027A3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04561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26988" y="744538"/>
            <a:ext cx="6615112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98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ZA" altLang="en-US" dirty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9DA3FB7-BD1B-4C42-8790-3711E741D11E}" type="slidenum">
              <a:rPr lang="en-ZA" smtClean="0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ZA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609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88841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73016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54420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144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07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35147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46379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1D56-F3D6-4C57-902C-021CF4EA8EF7}" type="datetimeFigureOut">
              <a:rPr lang="en-ZA" smtClean="0"/>
              <a:t>2023/01/22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AE55-7E06-4976-960B-3D98813CB3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17489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1D56-F3D6-4C57-902C-021CF4EA8EF7}" type="datetimeFigureOut">
              <a:rPr lang="en-ZA" smtClean="0"/>
              <a:t>2023/01/22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AE55-7E06-4976-960B-3D98813CB3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24921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1D56-F3D6-4C57-902C-021CF4EA8EF7}" type="datetimeFigureOut">
              <a:rPr lang="en-ZA" smtClean="0"/>
              <a:t>2023/01/22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AE55-7E06-4976-960B-3D98813CB3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5031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1D56-F3D6-4C57-902C-021CF4EA8EF7}" type="datetimeFigureOut">
              <a:rPr lang="en-ZA" smtClean="0"/>
              <a:t>2023/01/22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AE55-7E06-4976-960B-3D98813CB3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5274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1D56-F3D6-4C57-902C-021CF4EA8EF7}" type="datetimeFigureOut">
              <a:rPr lang="en-ZA" smtClean="0"/>
              <a:t>2023/01/22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AE55-7E06-4976-960B-3D98813CB3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9249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91D56-F3D6-4C57-902C-021CF4EA8EF7}" type="datetimeFigureOut">
              <a:rPr lang="en-ZA" smtClean="0"/>
              <a:t>2023/01/22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C0AE55-7E06-4976-960B-3D98813CB3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10363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91D56-F3D6-4C57-902C-021CF4EA8EF7}" type="datetimeFigureOut">
              <a:rPr lang="en-ZA" smtClean="0"/>
              <a:t>2023/01/22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C0AE55-7E06-4976-960B-3D98813CB3C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81029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551384" y="1052736"/>
            <a:ext cx="9361040" cy="1224136"/>
          </a:xfrm>
        </p:spPr>
        <p:txBody>
          <a:bodyPr>
            <a:normAutofit fontScale="90000"/>
          </a:bodyPr>
          <a:lstStyle/>
          <a:p>
            <a:r>
              <a:rPr lang="en-ZA" altLang="en-US" sz="3200" dirty="0"/>
              <a:t/>
            </a:r>
            <a:br>
              <a:rPr lang="en-ZA" altLang="en-US" sz="3200" dirty="0"/>
            </a:br>
            <a:r>
              <a:rPr lang="en-ZA" altLang="en-US" sz="3200" dirty="0"/>
              <a:t/>
            </a:r>
            <a:br>
              <a:rPr lang="en-ZA" altLang="en-US" sz="3200" dirty="0"/>
            </a:br>
            <a:r>
              <a:rPr lang="en-ZA" altLang="en-US" sz="3200" dirty="0"/>
              <a:t/>
            </a:r>
            <a:br>
              <a:rPr lang="en-ZA" altLang="en-US" sz="3200" dirty="0"/>
            </a:br>
            <a:r>
              <a:rPr lang="en-ZA" altLang="en-US" sz="3200" dirty="0"/>
              <a:t/>
            </a:r>
            <a:br>
              <a:rPr lang="en-ZA" altLang="en-US" sz="3200" dirty="0"/>
            </a:br>
            <a:r>
              <a:rPr lang="en-ZA" altLang="en-US" sz="3200" dirty="0"/>
              <a:t/>
            </a:r>
            <a:br>
              <a:rPr lang="en-ZA" altLang="en-US" sz="3200" dirty="0"/>
            </a:br>
            <a:r>
              <a:rPr lang="en-ZA" altLang="en-US" sz="3200" dirty="0"/>
              <a:t/>
            </a:r>
            <a:br>
              <a:rPr lang="en-ZA" altLang="en-US" sz="3200" dirty="0"/>
            </a:br>
            <a:r>
              <a:rPr lang="en-ZA" altLang="en-US" sz="3200" dirty="0"/>
              <a:t/>
            </a:r>
            <a:br>
              <a:rPr lang="en-ZA" altLang="en-US" sz="3200" dirty="0"/>
            </a:br>
            <a:r>
              <a:rPr lang="en-ZA" altLang="en-US" sz="3200" dirty="0"/>
              <a:t/>
            </a:r>
            <a:br>
              <a:rPr lang="en-ZA" altLang="en-US" sz="3200" dirty="0"/>
            </a:br>
            <a:r>
              <a:rPr lang="en-ZA" altLang="en-US" sz="3200" dirty="0"/>
              <a:t/>
            </a:r>
            <a:br>
              <a:rPr lang="en-ZA" altLang="en-US" sz="3200" dirty="0"/>
            </a:br>
            <a:r>
              <a:rPr lang="en-GB" sz="3600" b="1" dirty="0">
                <a:solidFill>
                  <a:schemeClr val="accent2">
                    <a:lumMod val="75000"/>
                  </a:schemeClr>
                </a:solidFill>
                <a:latin typeface="Arial"/>
                <a:ea typeface="Times New Roman"/>
              </a:rPr>
              <a:t/>
            </a:r>
            <a:br>
              <a:rPr lang="en-GB" sz="3600" b="1" dirty="0">
                <a:solidFill>
                  <a:schemeClr val="accent2">
                    <a:lumMod val="75000"/>
                  </a:schemeClr>
                </a:solidFill>
                <a:latin typeface="Arial"/>
                <a:ea typeface="Times New Roman"/>
              </a:rPr>
            </a:br>
            <a:r>
              <a:rPr lang="en-ZA" altLang="en-US" sz="3600" b="1" dirty="0">
                <a:latin typeface="Arial Narrow" pitchFamily="34" charset="0"/>
              </a:rPr>
              <a:t/>
            </a:r>
            <a:br>
              <a:rPr lang="en-ZA" altLang="en-US" sz="3600" b="1" dirty="0">
                <a:latin typeface="Arial Narrow" pitchFamily="34" charset="0"/>
              </a:rPr>
            </a:br>
            <a:r>
              <a:rPr lang="en-ZA" altLang="en-US" sz="3600" b="1" dirty="0">
                <a:latin typeface="Arial Narrow" pitchFamily="34" charset="0"/>
              </a:rPr>
              <a:t/>
            </a:r>
            <a:br>
              <a:rPr lang="en-ZA" altLang="en-US" sz="3600" b="1" dirty="0">
                <a:latin typeface="Arial Narrow" pitchFamily="34" charset="0"/>
              </a:rPr>
            </a:br>
            <a:r>
              <a:rPr lang="en-ZA" altLang="en-US" sz="3600" b="1" dirty="0">
                <a:latin typeface="Arial Narrow" pitchFamily="34" charset="0"/>
              </a:rPr>
              <a:t/>
            </a:r>
            <a:br>
              <a:rPr lang="en-ZA" altLang="en-US" sz="3600" b="1" dirty="0">
                <a:latin typeface="Arial Narrow" pitchFamily="34" charset="0"/>
              </a:rPr>
            </a:br>
            <a:r>
              <a:rPr lang="en-ZA" altLang="en-US" b="1" dirty="0">
                <a:solidFill>
                  <a:srgbClr val="C0504D">
                    <a:lumMod val="75000"/>
                  </a:srgbClr>
                </a:solidFill>
                <a:latin typeface="Arial Narrow" pitchFamily="34" charset="0"/>
              </a:rPr>
              <a:t>2023  ATP MEDIATION AND </a:t>
            </a:r>
            <a:br>
              <a:rPr lang="en-ZA" altLang="en-US" b="1" dirty="0">
                <a:solidFill>
                  <a:srgbClr val="C0504D">
                    <a:lumMod val="75000"/>
                  </a:srgbClr>
                </a:solidFill>
                <a:latin typeface="Arial Narrow" pitchFamily="34" charset="0"/>
              </a:rPr>
            </a:br>
            <a:r>
              <a:rPr lang="en-ZA" altLang="en-US" b="1" dirty="0">
                <a:solidFill>
                  <a:srgbClr val="C0504D">
                    <a:lumMod val="75000"/>
                  </a:srgbClr>
                </a:solidFill>
                <a:latin typeface="Arial Narrow" pitchFamily="34" charset="0"/>
              </a:rPr>
              <a:t>CIRCULAR S33 PRESENTATION</a:t>
            </a:r>
            <a:r>
              <a:rPr lang="en-ZA" altLang="en-US" sz="49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ZA" altLang="en-US" sz="4900" b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ZA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ZA" alt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ZA" altLang="en-US" sz="4000" b="1" cap="small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MATHEMATICS </a:t>
            </a:r>
            <a:br>
              <a:rPr lang="en-ZA" altLang="en-US" sz="4000" b="1" cap="small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ZA" altLang="en-US" sz="4000" b="1" cap="small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 10 - 12</a:t>
            </a:r>
            <a:br>
              <a:rPr lang="en-ZA" altLang="en-US" sz="4000" b="1" cap="small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ZA" altLang="en-US" sz="4000" b="1" cap="small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Implementation date:  </a:t>
            </a:r>
            <a:r>
              <a:rPr lang="en-ZA" altLang="en-US" sz="4000" b="1" cap="small" dirty="0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 January </a:t>
            </a:r>
            <a:r>
              <a:rPr lang="en-ZA" altLang="en-US" sz="4000" b="1" cap="small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2023</a:t>
            </a:r>
            <a:r>
              <a:rPr lang="en-ZA" altLang="en-US" sz="3600" b="1" dirty="0">
                <a:latin typeface="Arial Narrow" pitchFamily="34" charset="0"/>
              </a:rPr>
              <a:t/>
            </a:r>
            <a:br>
              <a:rPr lang="en-ZA" altLang="en-US" sz="3600" b="1" dirty="0">
                <a:latin typeface="Arial Narrow" pitchFamily="34" charset="0"/>
              </a:rPr>
            </a:br>
            <a:r>
              <a:rPr lang="en-ZA" altLang="en-US" sz="4000" b="1" dirty="0">
                <a:latin typeface="Arial Narrow" pitchFamily="34" charset="0"/>
              </a:rPr>
              <a:t/>
            </a:r>
            <a:br>
              <a:rPr lang="en-ZA" altLang="en-US" sz="4000" b="1" dirty="0">
                <a:latin typeface="Arial Narrow" pitchFamily="34" charset="0"/>
              </a:rPr>
            </a:br>
            <a:r>
              <a:rPr lang="en-ZA" altLang="en-US" sz="3200" dirty="0"/>
              <a:t/>
            </a:r>
            <a:br>
              <a:rPr lang="en-ZA" altLang="en-US" sz="3200" dirty="0"/>
            </a:br>
            <a:r>
              <a:rPr lang="en-ZA" altLang="en-US" sz="3200" dirty="0"/>
              <a:t/>
            </a:r>
            <a:br>
              <a:rPr lang="en-ZA" altLang="en-US" sz="3200" dirty="0"/>
            </a:br>
            <a:r>
              <a:rPr lang="en-ZA" altLang="en-US" sz="3200" dirty="0"/>
              <a:t/>
            </a:r>
            <a:br>
              <a:rPr lang="en-ZA" altLang="en-US" sz="3200" dirty="0"/>
            </a:br>
            <a:r>
              <a:rPr lang="en-ZA" altLang="en-US" sz="3200" dirty="0"/>
              <a:t/>
            </a:r>
            <a:br>
              <a:rPr lang="en-ZA" altLang="en-US" sz="3200" dirty="0"/>
            </a:br>
            <a:r>
              <a:rPr lang="en-ZA" altLang="en-US" sz="3200" dirty="0"/>
              <a:t/>
            </a:r>
            <a:br>
              <a:rPr lang="en-ZA" altLang="en-US" sz="3200" dirty="0"/>
            </a:br>
            <a:r>
              <a:rPr lang="en-ZA" altLang="en-US" sz="3200" dirty="0"/>
              <a:t/>
            </a:r>
            <a:br>
              <a:rPr lang="en-ZA" altLang="en-US" sz="3200" dirty="0"/>
            </a:br>
            <a:endParaRPr lang="en-ZA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50635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2783632" y="332656"/>
            <a:ext cx="6426714" cy="702208"/>
          </a:xfrm>
        </p:spPr>
        <p:txBody>
          <a:bodyPr>
            <a:normAutofit/>
          </a:bodyPr>
          <a:lstStyle/>
          <a:p>
            <a:r>
              <a:rPr lang="en-ZA" altLang="en-US" sz="3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Presentation 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E1139C-34D3-4DF3-8A57-AB017E772C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0590928"/>
              </p:ext>
            </p:extLst>
          </p:nvPr>
        </p:nvGraphicFramePr>
        <p:xfrm>
          <a:off x="911424" y="1034864"/>
          <a:ext cx="10225136" cy="4842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1"/>
          <p:cNvSpPr txBox="1"/>
          <p:nvPr/>
        </p:nvSpPr>
        <p:spPr>
          <a:xfrm>
            <a:off x="10128448" y="6410203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16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72172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2711624" y="1628800"/>
            <a:ext cx="6426714" cy="702208"/>
          </a:xfrm>
        </p:spPr>
        <p:txBody>
          <a:bodyPr>
            <a:normAutofit/>
          </a:bodyPr>
          <a:lstStyle/>
          <a:p>
            <a:pPr lvl="0"/>
            <a:r>
              <a:rPr lang="en-ZA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Purpose </a:t>
            </a:r>
            <a:endParaRPr lang="en-ZA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839416" y="2996952"/>
            <a:ext cx="10972800" cy="144015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114300" lvl="0" indent="0" algn="just">
              <a:lnSpc>
                <a:spcPct val="115000"/>
              </a:lnSpc>
              <a:buNone/>
              <a:tabLst>
                <a:tab pos="540385" algn="l"/>
              </a:tabLst>
            </a:pPr>
            <a:r>
              <a:rPr lang="en-US" b="1" dirty="0"/>
              <a:t>To clarify changes on </a:t>
            </a:r>
            <a:r>
              <a:rPr lang="en-US" b="1" dirty="0" smtClean="0"/>
              <a:t>MATHEMATICS </a:t>
            </a:r>
            <a:r>
              <a:rPr lang="en-US" b="1" dirty="0"/>
              <a:t>FET ATP effected </a:t>
            </a:r>
            <a:r>
              <a:rPr lang="en-US" b="1" dirty="0" smtClean="0"/>
              <a:t>for 2023 </a:t>
            </a:r>
            <a:r>
              <a:rPr lang="en-US" b="1" dirty="0"/>
              <a:t>and </a:t>
            </a:r>
            <a:r>
              <a:rPr lang="en-US" b="1" dirty="0" smtClean="0"/>
              <a:t>2024</a:t>
            </a:r>
            <a:endParaRPr lang="en-ZA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10128448" y="6410203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3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2797265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2135560" y="2492896"/>
            <a:ext cx="7578842" cy="702208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ZA" sz="3200" b="1" dirty="0"/>
              <a:t>Amendments to the Annual Teaching Plan (ATP)</a:t>
            </a:r>
            <a:endParaRPr lang="en-US" sz="3200" b="1" dirty="0"/>
          </a:p>
        </p:txBody>
      </p:sp>
      <p:sp>
        <p:nvSpPr>
          <p:cNvPr id="3" name="TextBox 1"/>
          <p:cNvSpPr txBox="1"/>
          <p:nvPr/>
        </p:nvSpPr>
        <p:spPr>
          <a:xfrm>
            <a:off x="10128448" y="6410203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4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1044136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919536" y="116632"/>
            <a:ext cx="7578842" cy="702208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ZA" sz="3200" b="1" dirty="0"/>
              <a:t>Amendments to the Annual Teaching Plan (ATP)</a:t>
            </a:r>
            <a:endParaRPr lang="en-US" sz="3200" b="1" dirty="0"/>
          </a:p>
        </p:txBody>
      </p:sp>
      <p:graphicFrame>
        <p:nvGraphicFramePr>
          <p:cNvPr id="3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1149195"/>
              </p:ext>
            </p:extLst>
          </p:nvPr>
        </p:nvGraphicFramePr>
        <p:xfrm>
          <a:off x="407368" y="692697"/>
          <a:ext cx="11233248" cy="553079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53117">
                  <a:extLst>
                    <a:ext uri="{9D8B030D-6E8A-4147-A177-3AD203B41FA5}">
                      <a16:colId xmlns:a16="http://schemas.microsoft.com/office/drawing/2014/main" val="3495104080"/>
                    </a:ext>
                  </a:extLst>
                </a:gridCol>
                <a:gridCol w="10180131">
                  <a:extLst>
                    <a:ext uri="{9D8B030D-6E8A-4147-A177-3AD203B41FA5}">
                      <a16:colId xmlns:a16="http://schemas.microsoft.com/office/drawing/2014/main" val="2415527620"/>
                    </a:ext>
                  </a:extLst>
                </a:gridCol>
              </a:tblGrid>
              <a:tr h="471114"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Grade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Issues </a:t>
                      </a:r>
                      <a:endParaRPr lang="en-ZA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7949"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10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2000" dirty="0" smtClean="0"/>
                        <a:t>Number of teaching weeks for Probability, Finance and Statistics has been increased from two weeks to three</a:t>
                      </a:r>
                      <a:r>
                        <a:rPr lang="en-ZA" sz="2000" baseline="0" dirty="0" smtClean="0"/>
                        <a:t> weeks as these topics were trimmed (COVID) in grade 9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2000" baseline="0" dirty="0" smtClean="0"/>
                        <a:t>Increased teaching weeks of algebra in term 1 by one week to strengthen the teaching of algebra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ZA" sz="2000" baseline="0" dirty="0" smtClean="0"/>
                        <a:t>Moved Euclidean Geometry from term 1 to term 2 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2000" baseline="0" dirty="0" smtClean="0"/>
                        <a:t>Moved Trigonometry from term 2 to term 1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ZA" sz="2000" baseline="0" dirty="0" smtClean="0"/>
                        <a:t>Number Patterns moved from term 2 to term 4 because it is being revised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854218"/>
                  </a:ext>
                </a:extLst>
              </a:tr>
              <a:tr h="2679528"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11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ZA" sz="2000" dirty="0" smtClean="0"/>
                        <a:t>Number of teaching weeks for Probability and Finance has been increased from two weeks to three</a:t>
                      </a:r>
                      <a:r>
                        <a:rPr lang="en-ZA" sz="2000" baseline="0" dirty="0" smtClean="0"/>
                        <a:t> weeks as these two topics were trimmed in grade 10 due trimmed ATP (COVID)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2000" baseline="0" dirty="0" smtClean="0"/>
                        <a:t>Increased teaching weeks of algebra in term 1 by one week to strengthen the teaching of algebra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ZA" sz="2000" baseline="0" dirty="0" smtClean="0"/>
                        <a:t>Moved Euclidean Geometry from term 1 to term 2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ZA" sz="2000" baseline="0" dirty="0" smtClean="0"/>
                        <a:t>Moved Trigonometry from term 2 to term 1</a:t>
                      </a:r>
                    </a:p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af-ZA" sz="20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Countingency tables were clarified as teachers better use them when teaching dependent and independent events </a:t>
                      </a:r>
                      <a:endParaRPr lang="en-ZA" sz="2000" baseline="0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ZA" sz="2000" b="1" baseline="0" dirty="0" smtClean="0"/>
                        <a:t>Please note same topics in grades 10 and 11 are taught at the same time.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98478"/>
                  </a:ext>
                </a:extLst>
              </a:tr>
            </a:tbl>
          </a:graphicData>
        </a:graphic>
      </p:graphicFrame>
      <p:sp>
        <p:nvSpPr>
          <p:cNvPr id="4" name="TextBox 1"/>
          <p:cNvSpPr txBox="1"/>
          <p:nvPr/>
        </p:nvSpPr>
        <p:spPr>
          <a:xfrm>
            <a:off x="10128448" y="6410203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5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783348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919536" y="476672"/>
            <a:ext cx="7578842" cy="702208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ZA" sz="3200" b="1" dirty="0"/>
              <a:t>Amendments to the Annual Teaching Plan (ATP)</a:t>
            </a:r>
            <a:endParaRPr lang="en-US" sz="3200" b="1" dirty="0"/>
          </a:p>
        </p:txBody>
      </p:sp>
      <p:graphicFrame>
        <p:nvGraphicFramePr>
          <p:cNvPr id="3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9295297"/>
              </p:ext>
            </p:extLst>
          </p:nvPr>
        </p:nvGraphicFramePr>
        <p:xfrm>
          <a:off x="407368" y="1484784"/>
          <a:ext cx="11593288" cy="216267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03009">
                  <a:extLst>
                    <a:ext uri="{9D8B030D-6E8A-4147-A177-3AD203B41FA5}">
                      <a16:colId xmlns:a16="http://schemas.microsoft.com/office/drawing/2014/main" val="3495104080"/>
                    </a:ext>
                  </a:extLst>
                </a:gridCol>
                <a:gridCol w="10190279">
                  <a:extLst>
                    <a:ext uri="{9D8B030D-6E8A-4147-A177-3AD203B41FA5}">
                      <a16:colId xmlns:a16="http://schemas.microsoft.com/office/drawing/2014/main" val="2415527620"/>
                    </a:ext>
                  </a:extLst>
                </a:gridCol>
              </a:tblGrid>
              <a:tr h="547231"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Grade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Issues </a:t>
                      </a:r>
                      <a:endParaRPr lang="en-ZA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5041"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12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ZA" sz="2000" dirty="0" smtClean="0"/>
                        <a:t>There</a:t>
                      </a:r>
                      <a:r>
                        <a:rPr lang="en-ZA" sz="2000" baseline="0" dirty="0" smtClean="0"/>
                        <a:t> were three formal tasks in term 1 and one formal task in term 2. One formal task, Assignment, is moved from term 1 to term 2. </a:t>
                      </a:r>
                    </a:p>
                    <a:p>
                      <a:pPr marL="342900" indent="-342900" algn="l">
                        <a:buFont typeface="Arial" panose="020B0604020202020204" pitchFamily="34" charset="0"/>
                        <a:buChar char="•"/>
                      </a:pPr>
                      <a:r>
                        <a:rPr lang="en-ZA" sz="2000" baseline="0" dirty="0" smtClean="0"/>
                        <a:t>There is June examination/test  in Term 2.</a:t>
                      </a:r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endParaRPr lang="en-ZA" sz="2000" baseline="0" dirty="0"/>
                    </a:p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en-ZA" sz="2000" b="1" baseline="0" dirty="0" smtClean="0"/>
                        <a:t>Please note that there are two formal tasks in each term. </a:t>
                      </a:r>
                      <a:endParaRPr lang="en-ZA" sz="2000" b="1" dirty="0" smtClean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181721"/>
                  </a:ext>
                </a:extLst>
              </a:tr>
            </a:tbl>
          </a:graphicData>
        </a:graphic>
      </p:graphicFrame>
      <p:sp>
        <p:nvSpPr>
          <p:cNvPr id="4" name="TextBox 1"/>
          <p:cNvSpPr txBox="1"/>
          <p:nvPr/>
        </p:nvSpPr>
        <p:spPr>
          <a:xfrm>
            <a:off x="10128448" y="6410203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6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2226377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2135560" y="2492896"/>
            <a:ext cx="7578842" cy="702208"/>
          </a:xfrm>
        </p:spPr>
        <p:txBody>
          <a:bodyPr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ZA" sz="3200" b="1" dirty="0"/>
              <a:t>Amendments to School Based Assessment (SBA)</a:t>
            </a:r>
            <a:endParaRPr lang="en-US" sz="3200" b="1" dirty="0"/>
          </a:p>
        </p:txBody>
      </p:sp>
      <p:sp>
        <p:nvSpPr>
          <p:cNvPr id="3" name="TextBox 1"/>
          <p:cNvSpPr txBox="1"/>
          <p:nvPr/>
        </p:nvSpPr>
        <p:spPr>
          <a:xfrm>
            <a:off x="10128448" y="6410203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7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993601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114D-62F9-4A99-BA0A-D5F8AC11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260648"/>
            <a:ext cx="11593288" cy="994121"/>
          </a:xfrm>
        </p:spPr>
        <p:txBody>
          <a:bodyPr>
            <a:noAutofit/>
          </a:bodyPr>
          <a:lstStyle/>
          <a:p>
            <a:pPr marL="457200">
              <a:lnSpc>
                <a:spcPct val="115000"/>
              </a:lnSpc>
              <a:spcAft>
                <a:spcPts val="600"/>
              </a:spcAft>
            </a:pP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Mathematics FET Weightings on Cognitive Level</a:t>
            </a:r>
            <a:endParaRPr lang="en-GB" sz="32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428825"/>
              </p:ext>
            </p:extLst>
          </p:nvPr>
        </p:nvGraphicFramePr>
        <p:xfrm>
          <a:off x="911424" y="1254769"/>
          <a:ext cx="10297144" cy="469451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{5940675A-B579-460E-94D1-54222C63F5DA}</a:tableStyleId>
              </a:tblPr>
              <a:tblGrid>
                <a:gridCol w="4801311">
                  <a:extLst>
                    <a:ext uri="{9D8B030D-6E8A-4147-A177-3AD203B41FA5}">
                      <a16:colId xmlns:a16="http://schemas.microsoft.com/office/drawing/2014/main" val="2558670094"/>
                    </a:ext>
                  </a:extLst>
                </a:gridCol>
                <a:gridCol w="2713246">
                  <a:extLst>
                    <a:ext uri="{9D8B030D-6E8A-4147-A177-3AD203B41FA5}">
                      <a16:colId xmlns:a16="http://schemas.microsoft.com/office/drawing/2014/main" val="2456587745"/>
                    </a:ext>
                  </a:extLst>
                </a:gridCol>
                <a:gridCol w="2782587">
                  <a:extLst>
                    <a:ext uri="{9D8B030D-6E8A-4147-A177-3AD203B41FA5}">
                      <a16:colId xmlns:a16="http://schemas.microsoft.com/office/drawing/2014/main" val="2616684371"/>
                    </a:ext>
                  </a:extLst>
                </a:gridCol>
              </a:tblGrid>
              <a:tr h="464978">
                <a:tc gridSpan="3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There are no changes regarding</a:t>
                      </a:r>
                      <a:r>
                        <a:rPr lang="en-ZA" sz="24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ZA" sz="24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cognitive levels</a:t>
                      </a:r>
                      <a:endParaRPr lang="en-ZA" sz="24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ZA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978">
                <a:tc rowSpan="2"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four levels of the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Mathematics Assessment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axonomy</a:t>
                      </a:r>
                      <a:endParaRPr lang="en-ZA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Grade 10 -12</a:t>
                      </a:r>
                      <a:endParaRPr lang="en-ZA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995768"/>
                  </a:ext>
                </a:extLst>
              </a:tr>
              <a:tr h="652215">
                <a:tc vMerge="1">
                  <a:txBody>
                    <a:bodyPr/>
                    <a:lstStyle/>
                    <a:p>
                      <a:endParaRPr lang="en-Z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Paper 1</a:t>
                      </a:r>
                      <a:endParaRPr lang="en-ZA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Paper 2</a:t>
                      </a:r>
                      <a:endParaRPr lang="en-ZA" sz="1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20172894"/>
                  </a:ext>
                </a:extLst>
              </a:tr>
              <a:tr h="59489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 1: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Knowledge</a:t>
                      </a:r>
                      <a:endParaRPr lang="en-ZA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20 %</a:t>
                      </a:r>
                      <a:endParaRPr lang="en-ZA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20 %</a:t>
                      </a:r>
                      <a:endParaRPr lang="en-ZA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0198672"/>
                  </a:ext>
                </a:extLst>
              </a:tr>
              <a:tr h="96127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 2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Routine Procedures</a:t>
                      </a:r>
                      <a:endParaRPr lang="en-ZA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ZA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%</a:t>
                      </a:r>
                      <a:endParaRPr lang="en-ZA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72199924"/>
                  </a:ext>
                </a:extLst>
              </a:tr>
              <a:tr h="961274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 3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Complex Procedures</a:t>
                      </a:r>
                      <a:endParaRPr lang="en-ZA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30%</a:t>
                      </a:r>
                      <a:endParaRPr lang="en-ZA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30%</a:t>
                      </a:r>
                      <a:endParaRPr lang="en-ZA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9721762"/>
                  </a:ext>
                </a:extLst>
              </a:tr>
              <a:tr h="594896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Level 4: </a:t>
                      </a:r>
                      <a:r>
                        <a:rPr lang="en-US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Problem Solving</a:t>
                      </a:r>
                      <a:endParaRPr lang="en-ZA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15%</a:t>
                      </a:r>
                      <a:endParaRPr lang="en-ZA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18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15%</a:t>
                      </a:r>
                      <a:endParaRPr lang="en-ZA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0893368"/>
                  </a:ext>
                </a:extLst>
              </a:tr>
            </a:tbl>
          </a:graphicData>
        </a:graphic>
      </p:graphicFrame>
      <p:sp>
        <p:nvSpPr>
          <p:cNvPr id="4" name="TextBox 1"/>
          <p:cNvSpPr txBox="1"/>
          <p:nvPr/>
        </p:nvSpPr>
        <p:spPr>
          <a:xfrm>
            <a:off x="10128448" y="6410203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/>
              <a:t>8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1455432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EBF91-0E04-4DD2-8E56-385C5637F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84" y="125760"/>
            <a:ext cx="10972800" cy="1143000"/>
          </a:xfrm>
        </p:spPr>
        <p:txBody>
          <a:bodyPr>
            <a:noAutofit/>
          </a:bodyPr>
          <a:lstStyle/>
          <a:p>
            <a:pPr marL="457200">
              <a:lnSpc>
                <a:spcPct val="115000"/>
              </a:lnSpc>
              <a:spcAft>
                <a:spcPts val="600"/>
              </a:spcAft>
            </a:pP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of Tasks and Weightings for grades 10-12</a:t>
            </a:r>
            <a:endParaRPr lang="en-GB" sz="3200" b="1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8672152"/>
              </p:ext>
            </p:extLst>
          </p:nvPr>
        </p:nvGraphicFramePr>
        <p:xfrm>
          <a:off x="407368" y="1052736"/>
          <a:ext cx="11377263" cy="511500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val="349510408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41552762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8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5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964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7231"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Grade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No of formal tasks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Term 1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Term 2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Term 3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Term 4</a:t>
                      </a:r>
                      <a:endParaRPr lang="en-ZA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41694"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10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7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Investigation/</a:t>
                      </a:r>
                    </a:p>
                    <a:p>
                      <a:pPr marL="0" algn="ctr" defTabSz="914400" rtl="0" eaLnBrk="1" latinLnBrk="0" hangingPunct="1"/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Project 15%</a:t>
                      </a:r>
                    </a:p>
                    <a:p>
                      <a:pPr marL="0" algn="ctr" defTabSz="914400" rtl="0" eaLnBrk="1" latinLnBrk="0" hangingPunct="1"/>
                      <a:endParaRPr lang="en-ZA" sz="20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 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 smtClean="0"/>
                        <a:t>Assignment</a:t>
                      </a:r>
                      <a:r>
                        <a:rPr lang="en-ZA" sz="2000" b="1" baseline="0" dirty="0" smtClean="0"/>
                        <a:t> </a:t>
                      </a:r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15%</a:t>
                      </a:r>
                      <a:r>
                        <a:rPr lang="en-ZA" sz="2000" b="1" dirty="0" smtClean="0"/>
                        <a:t> </a:t>
                      </a:r>
                    </a:p>
                    <a:p>
                      <a:pPr algn="ctr"/>
                      <a:endParaRPr lang="en-ZA" sz="2000" b="1" dirty="0" smtClean="0"/>
                    </a:p>
                    <a:p>
                      <a:pPr algn="ctr"/>
                      <a:r>
                        <a:rPr lang="en-ZA" sz="2000" b="1" dirty="0" smtClean="0"/>
                        <a:t>Mid-Year</a:t>
                      </a:r>
                      <a:r>
                        <a:rPr lang="en-ZA" sz="2000" b="1" baseline="0" dirty="0" smtClean="0"/>
                        <a:t> Exam  </a:t>
                      </a:r>
                      <a:r>
                        <a:rPr lang="en-ZA" sz="2000" b="1" dirty="0" smtClean="0"/>
                        <a:t>14%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 smtClean="0"/>
                        <a:t>Test</a:t>
                      </a:r>
                      <a:r>
                        <a:rPr lang="en-ZA" sz="2000" b="1" baseline="0" dirty="0" smtClean="0"/>
                        <a:t> </a:t>
                      </a:r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14%</a:t>
                      </a:r>
                    </a:p>
                    <a:p>
                      <a:pPr algn="ctr"/>
                      <a:endParaRPr lang="en-ZA" sz="2000" b="1" baseline="0" dirty="0" smtClean="0"/>
                    </a:p>
                    <a:p>
                      <a:pPr algn="ctr"/>
                      <a:r>
                        <a:rPr lang="en-ZA" sz="2000" b="1" dirty="0" smtClean="0"/>
                        <a:t>Test</a:t>
                      </a:r>
                      <a:r>
                        <a:rPr lang="en-ZA" sz="2000" b="1" baseline="0" dirty="0" smtClean="0"/>
                        <a:t> </a:t>
                      </a:r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 smtClean="0"/>
                        <a:t>Test</a:t>
                      </a:r>
                      <a:r>
                        <a:rPr lang="en-ZA" sz="2000" b="1" baseline="0" dirty="0" smtClean="0"/>
                        <a:t> </a:t>
                      </a:r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14%</a:t>
                      </a:r>
                    </a:p>
                    <a:p>
                      <a:pPr algn="ctr"/>
                      <a:endParaRPr lang="en-ZA" sz="2000" b="1" dirty="0" smtClean="0"/>
                    </a:p>
                    <a:p>
                      <a:pPr algn="ctr"/>
                      <a:r>
                        <a:rPr lang="en-ZA" sz="2000" b="1" dirty="0" smtClean="0"/>
                        <a:t>SBA</a:t>
                      </a:r>
                      <a:r>
                        <a:rPr lang="en-ZA" sz="2000" b="1" baseline="0" dirty="0" smtClean="0"/>
                        <a:t> 40%</a:t>
                      </a:r>
                      <a:endParaRPr lang="en-ZA" sz="2000" b="1" dirty="0" smtClean="0"/>
                    </a:p>
                    <a:p>
                      <a:pPr algn="ctr"/>
                      <a:r>
                        <a:rPr lang="en-ZA" sz="2000" b="1" dirty="0" smtClean="0"/>
                        <a:t>FINAL</a:t>
                      </a:r>
                      <a:r>
                        <a:rPr lang="en-ZA" sz="2000" b="1" baseline="0" dirty="0" smtClean="0"/>
                        <a:t> EXAM 60%</a:t>
                      </a:r>
                      <a:endParaRPr lang="en-ZA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854218"/>
                  </a:ext>
                </a:extLst>
              </a:tr>
              <a:tr h="1534585"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11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7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Investigation/</a:t>
                      </a:r>
                    </a:p>
                    <a:p>
                      <a:pPr marL="0" algn="ctr" defTabSz="914400" rtl="0" eaLnBrk="1" latinLnBrk="0" hangingPunct="1"/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Project </a:t>
                      </a:r>
                      <a:r>
                        <a:rPr lang="en-ZA" sz="2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15%</a:t>
                      </a:r>
                    </a:p>
                    <a:p>
                      <a:pPr marL="0" algn="ctr" defTabSz="914400" rtl="0" eaLnBrk="1" latinLnBrk="0" hangingPunct="1"/>
                      <a:endParaRPr lang="en-ZA" sz="20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 </a:t>
                      </a:r>
                      <a:r>
                        <a:rPr lang="en-ZA" sz="2000" b="1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 smtClean="0"/>
                        <a:t>Assignment</a:t>
                      </a:r>
                      <a:r>
                        <a:rPr lang="en-ZA" sz="2000" b="1" baseline="0" dirty="0" smtClean="0"/>
                        <a:t> </a:t>
                      </a:r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15%</a:t>
                      </a:r>
                      <a:r>
                        <a:rPr lang="en-ZA" sz="2000" b="1" dirty="0" smtClean="0"/>
                        <a:t> </a:t>
                      </a:r>
                    </a:p>
                    <a:p>
                      <a:pPr algn="ctr"/>
                      <a:endParaRPr lang="en-ZA" sz="2000" b="1" dirty="0" smtClean="0"/>
                    </a:p>
                    <a:p>
                      <a:pPr algn="ctr"/>
                      <a:r>
                        <a:rPr lang="en-ZA" sz="2000" b="1" dirty="0" smtClean="0"/>
                        <a:t>Mid-Year</a:t>
                      </a:r>
                      <a:r>
                        <a:rPr lang="en-ZA" sz="2000" b="1" baseline="0" dirty="0" smtClean="0"/>
                        <a:t> Exam </a:t>
                      </a:r>
                      <a:r>
                        <a:rPr lang="en-ZA" sz="2000" b="1" dirty="0" smtClean="0"/>
                        <a:t>14%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 smtClean="0"/>
                        <a:t>Test</a:t>
                      </a:r>
                      <a:r>
                        <a:rPr lang="en-ZA" sz="2000" b="1" baseline="0" dirty="0" smtClean="0"/>
                        <a:t> </a:t>
                      </a:r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14%</a:t>
                      </a:r>
                    </a:p>
                    <a:p>
                      <a:pPr algn="ctr"/>
                      <a:endParaRPr lang="en-ZA" sz="2000" b="1" baseline="0" dirty="0" smtClean="0"/>
                    </a:p>
                    <a:p>
                      <a:pPr algn="ctr"/>
                      <a:r>
                        <a:rPr lang="en-ZA" sz="2000" b="1" dirty="0" smtClean="0"/>
                        <a:t>Test</a:t>
                      </a:r>
                      <a:r>
                        <a:rPr lang="en-ZA" sz="2000" b="1" baseline="0" dirty="0" smtClean="0"/>
                        <a:t> </a:t>
                      </a:r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 smtClean="0"/>
                        <a:t>Test</a:t>
                      </a:r>
                      <a:r>
                        <a:rPr lang="en-ZA" sz="2000" b="1" baseline="0" dirty="0" smtClean="0"/>
                        <a:t> </a:t>
                      </a:r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14%</a:t>
                      </a:r>
                    </a:p>
                    <a:p>
                      <a:pPr algn="ctr"/>
                      <a:endParaRPr lang="en-ZA" sz="2000" b="1" dirty="0" smtClean="0"/>
                    </a:p>
                    <a:p>
                      <a:pPr algn="ctr"/>
                      <a:r>
                        <a:rPr lang="en-ZA" sz="2000" b="1" dirty="0" smtClean="0"/>
                        <a:t>SBA</a:t>
                      </a:r>
                      <a:r>
                        <a:rPr lang="en-ZA" sz="2000" b="1" baseline="0" dirty="0" smtClean="0"/>
                        <a:t> 40%</a:t>
                      </a:r>
                      <a:endParaRPr lang="en-ZA" sz="2000" b="1" dirty="0" smtClean="0"/>
                    </a:p>
                    <a:p>
                      <a:pPr algn="ctr"/>
                      <a:r>
                        <a:rPr lang="en-ZA" sz="2000" b="1" dirty="0" smtClean="0"/>
                        <a:t>FINAL</a:t>
                      </a:r>
                      <a:r>
                        <a:rPr lang="en-ZA" sz="2000" b="1" baseline="0" dirty="0" smtClean="0"/>
                        <a:t> EXAM 60%</a:t>
                      </a:r>
                      <a:endParaRPr lang="en-ZA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98478"/>
                  </a:ext>
                </a:extLst>
              </a:tr>
              <a:tr h="1245041"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12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dirty="0" smtClean="0"/>
                        <a:t>6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Investigation/</a:t>
                      </a:r>
                    </a:p>
                    <a:p>
                      <a:pPr marL="0" algn="ctr" defTabSz="914400" rtl="0" eaLnBrk="1" latinLnBrk="0" hangingPunct="1"/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Project 15%</a:t>
                      </a:r>
                    </a:p>
                    <a:p>
                      <a:pPr marL="0" algn="ctr" defTabSz="914400" rtl="0" eaLnBrk="1" latinLnBrk="0" hangingPunct="1"/>
                      <a:endParaRPr lang="en-ZA" sz="2000" b="1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Test 15%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 smtClean="0"/>
                        <a:t>Assignment</a:t>
                      </a:r>
                      <a:r>
                        <a:rPr lang="en-ZA" sz="2000" b="1" baseline="0" dirty="0" smtClean="0"/>
                        <a:t> </a:t>
                      </a:r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15%</a:t>
                      </a:r>
                      <a:r>
                        <a:rPr lang="en-ZA" sz="2000" b="1" dirty="0" smtClean="0"/>
                        <a:t> </a:t>
                      </a:r>
                    </a:p>
                    <a:p>
                      <a:pPr algn="ctr"/>
                      <a:endParaRPr lang="en-ZA" sz="2000" b="1" dirty="0" smtClean="0"/>
                    </a:p>
                    <a:p>
                      <a:pPr algn="ctr"/>
                      <a:r>
                        <a:rPr lang="en-ZA" sz="2000" b="1" dirty="0" smtClean="0"/>
                        <a:t>June Exam/ Test</a:t>
                      </a:r>
                      <a:r>
                        <a:rPr lang="en-ZA" sz="2000" b="1" baseline="0" dirty="0" smtClean="0"/>
                        <a:t> </a:t>
                      </a:r>
                      <a:r>
                        <a:rPr lang="en-ZA" sz="2000" b="1" dirty="0" smtClean="0"/>
                        <a:t>15%</a:t>
                      </a:r>
                      <a:endParaRPr lang="en-ZA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ZA" sz="2000" b="1" dirty="0" smtClean="0"/>
                        <a:t>Test</a:t>
                      </a:r>
                      <a:r>
                        <a:rPr lang="en-ZA" sz="2000" b="1" baseline="0" dirty="0" smtClean="0"/>
                        <a:t> </a:t>
                      </a:r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15%</a:t>
                      </a:r>
                    </a:p>
                    <a:p>
                      <a:pPr algn="ctr"/>
                      <a:endParaRPr lang="en-ZA" sz="2000" b="1" baseline="0" dirty="0" smtClean="0"/>
                    </a:p>
                    <a:p>
                      <a:pPr algn="ctr"/>
                      <a:r>
                        <a:rPr lang="en-ZA" sz="2000" b="1" dirty="0" smtClean="0"/>
                        <a:t>Trial</a:t>
                      </a:r>
                      <a:r>
                        <a:rPr lang="en-ZA" sz="2000" b="1" baseline="0" dirty="0" smtClean="0"/>
                        <a:t> </a:t>
                      </a:r>
                      <a:r>
                        <a:rPr lang="en-ZA" sz="20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ZA" sz="2000" b="1" dirty="0" smtClean="0"/>
                    </a:p>
                    <a:p>
                      <a:pPr algn="ctr"/>
                      <a:r>
                        <a:rPr lang="en-ZA" sz="2000" b="1" dirty="0" smtClean="0"/>
                        <a:t>SBA</a:t>
                      </a:r>
                      <a:r>
                        <a:rPr lang="en-ZA" sz="2000" b="1" baseline="0" dirty="0" smtClean="0"/>
                        <a:t> 25%</a:t>
                      </a:r>
                      <a:endParaRPr lang="en-ZA" sz="2000" b="1" dirty="0" smtClean="0"/>
                    </a:p>
                    <a:p>
                      <a:pPr algn="ctr"/>
                      <a:r>
                        <a:rPr lang="en-ZA" sz="2000" b="1" dirty="0" smtClean="0"/>
                        <a:t>FINAL</a:t>
                      </a:r>
                      <a:r>
                        <a:rPr lang="en-ZA" sz="2000" b="1" baseline="0" dirty="0" smtClean="0"/>
                        <a:t> EXAM 75%</a:t>
                      </a:r>
                      <a:endParaRPr lang="en-ZA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8181721"/>
                  </a:ext>
                </a:extLst>
              </a:tr>
            </a:tbl>
          </a:graphicData>
        </a:graphic>
      </p:graphicFrame>
      <p:sp>
        <p:nvSpPr>
          <p:cNvPr id="4" name="TextBox 1"/>
          <p:cNvSpPr txBox="1"/>
          <p:nvPr/>
        </p:nvSpPr>
        <p:spPr>
          <a:xfrm>
            <a:off x="10128448" y="6410203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 smtClean="0"/>
              <a:t>9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2788689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114D-62F9-4A99-BA0A-D5F8AC11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9536" y="130623"/>
            <a:ext cx="8229600" cy="994121"/>
          </a:xfrm>
        </p:spPr>
        <p:txBody>
          <a:bodyPr>
            <a:noAutofit/>
          </a:bodyPr>
          <a:lstStyle/>
          <a:p>
            <a:pPr marL="457200">
              <a:lnSpc>
                <a:spcPct val="115000"/>
              </a:lnSpc>
              <a:spcAft>
                <a:spcPts val="600"/>
              </a:spcAft>
            </a:pPr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Grade 10 Content Weightings</a:t>
            </a:r>
            <a:endParaRPr lang="en-GB" sz="32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0770888-2D0F-42D0-BA57-9694DB3942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8950095"/>
              </p:ext>
            </p:extLst>
          </p:nvPr>
        </p:nvGraphicFramePr>
        <p:xfrm>
          <a:off x="695400" y="908720"/>
          <a:ext cx="10801200" cy="532525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52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1705">
                  <a:extLst>
                    <a:ext uri="{9D8B030D-6E8A-4147-A177-3AD203B41FA5}">
                      <a16:colId xmlns:a16="http://schemas.microsoft.com/office/drawing/2014/main" val="1750399546"/>
                    </a:ext>
                  </a:extLst>
                </a:gridCol>
                <a:gridCol w="3227166">
                  <a:extLst>
                    <a:ext uri="{9D8B030D-6E8A-4147-A177-3AD203B41FA5}">
                      <a16:colId xmlns:a16="http://schemas.microsoft.com/office/drawing/2014/main" val="4284890207"/>
                    </a:ext>
                  </a:extLst>
                </a:gridCol>
              </a:tblGrid>
              <a:tr h="855414">
                <a:tc>
                  <a:txBody>
                    <a:bodyPr/>
                    <a:lstStyle/>
                    <a:p>
                      <a:pPr marL="45720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b="1" kern="1200" dirty="0" smtClean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PAPER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CONTENT</a:t>
                      </a:r>
                      <a:endParaRPr lang="en-ZA" sz="2400" dirty="0" smtClean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ZA" sz="240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MARKS </a:t>
                      </a:r>
                      <a:endParaRPr lang="en-ZA" sz="24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034787"/>
                  </a:ext>
                </a:extLst>
              </a:tr>
              <a:tr h="342166">
                <a:tc rowSpan="5">
                  <a:txBody>
                    <a:bodyPr/>
                    <a:lstStyle/>
                    <a:p>
                      <a:pPr algn="ctr"/>
                      <a:r>
                        <a:rPr lang="en-ZA" dirty="0" smtClean="0"/>
                        <a:t>PAPER 1</a:t>
                      </a:r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Algebra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 (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518072"/>
                  </a:ext>
                </a:extLst>
              </a:tr>
              <a:tr h="450314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Number Patterns 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(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31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Probability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(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1332894"/>
                  </a:ext>
                </a:extLst>
              </a:tr>
              <a:tr h="342165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Functions and Graphs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 (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166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Finance and Growth 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 (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166">
                <a:tc gridSpan="2">
                  <a:txBody>
                    <a:bodyPr/>
                    <a:lstStyle/>
                    <a:p>
                      <a:pPr marL="457200" algn="ctr" defTabSz="914400" rtl="0" eaLnBrk="1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TOTAL</a:t>
                      </a:r>
                      <a:endParaRPr lang="en-GB" sz="16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 </a:t>
                      </a: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 Hours)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166">
                <a:tc>
                  <a:txBody>
                    <a:bodyPr/>
                    <a:lstStyle/>
                    <a:p>
                      <a:pPr marL="457200" algn="ctr" defTabSz="914400" rtl="0" eaLnBrk="1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None/>
                      </a:pPr>
                      <a:endParaRPr lang="en-GB" sz="16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 defTabSz="914400" rtl="0" eaLnBrk="1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None/>
                      </a:pPr>
                      <a:endParaRPr lang="en-GB" sz="16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166">
                <a:tc rowSpan="3">
                  <a:txBody>
                    <a:bodyPr/>
                    <a:lstStyle/>
                    <a:p>
                      <a:pPr algn="ctr"/>
                      <a:r>
                        <a:rPr lang="en-ZA" dirty="0" smtClean="0"/>
                        <a:t>Paper 2</a:t>
                      </a:r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Analytical Geometry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 (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165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Trigonometry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40 (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166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ZA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Euclidean </a:t>
                      </a:r>
                      <a:r>
                        <a:rPr lang="en-ZA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Geometry </a:t>
                      </a:r>
                      <a:r>
                        <a:rPr lang="en-ZA" sz="20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  Measurement 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 (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166">
                <a:tc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Statistics 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15 (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5559268"/>
                  </a:ext>
                </a:extLst>
              </a:tr>
              <a:tr h="342166">
                <a:tc gridSpan="2">
                  <a:txBody>
                    <a:bodyPr/>
                    <a:lstStyle/>
                    <a:p>
                      <a:pPr marL="457200" algn="ctr" defTabSz="914400" rtl="0" eaLnBrk="1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TOTAL</a:t>
                      </a:r>
                      <a:endParaRPr lang="en-GB" sz="16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ctr" defTabSz="914400" rtl="0" eaLnBrk="1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100 </a:t>
                      </a: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(2 Hours)</a:t>
                      </a:r>
                      <a:endParaRPr lang="en-GB" sz="16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1"/>
          <p:cNvSpPr txBox="1"/>
          <p:nvPr/>
        </p:nvSpPr>
        <p:spPr>
          <a:xfrm>
            <a:off x="10128448" y="6410203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 smtClean="0"/>
              <a:t>10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195265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114D-62F9-4A99-BA0A-D5F8AC11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332656"/>
            <a:ext cx="10307488" cy="994121"/>
          </a:xfrm>
        </p:spPr>
        <p:txBody>
          <a:bodyPr>
            <a:noAutofit/>
          </a:bodyPr>
          <a:lstStyle/>
          <a:p>
            <a:pPr marL="457200">
              <a:lnSpc>
                <a:spcPct val="115000"/>
              </a:lnSpc>
              <a:spcAft>
                <a:spcPts val="600"/>
              </a:spcAft>
            </a:pP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Content Weightings Grade 11</a:t>
            </a:r>
            <a:endParaRPr lang="en-GB" sz="32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80770888-2D0F-42D0-BA57-9694DB3942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7108449"/>
              </p:ext>
            </p:extLst>
          </p:nvPr>
        </p:nvGraphicFramePr>
        <p:xfrm>
          <a:off x="623392" y="1196752"/>
          <a:ext cx="10881057" cy="489724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72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710">
                  <a:extLst>
                    <a:ext uri="{9D8B030D-6E8A-4147-A177-3AD203B41FA5}">
                      <a16:colId xmlns:a16="http://schemas.microsoft.com/office/drawing/2014/main" val="3208661167"/>
                    </a:ext>
                  </a:extLst>
                </a:gridCol>
                <a:gridCol w="2613839">
                  <a:extLst>
                    <a:ext uri="{9D8B030D-6E8A-4147-A177-3AD203B41FA5}">
                      <a16:colId xmlns:a16="http://schemas.microsoft.com/office/drawing/2014/main" val="4284890207"/>
                    </a:ext>
                  </a:extLst>
                </a:gridCol>
              </a:tblGrid>
              <a:tr h="863107">
                <a:tc>
                  <a:txBody>
                    <a:bodyPr/>
                    <a:lstStyle/>
                    <a:p>
                      <a:pPr marL="45720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b="1" kern="1200" dirty="0" smtClean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PAPER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CONTENT</a:t>
                      </a:r>
                      <a:endParaRPr lang="en-ZA" sz="2400" dirty="0" smtClean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ZA" sz="2400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MARKS </a:t>
                      </a:r>
                      <a:endParaRPr lang="en-ZA" sz="24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034787"/>
                  </a:ext>
                </a:extLst>
              </a:tr>
              <a:tr h="353672">
                <a:tc rowSpan="5">
                  <a:txBody>
                    <a:bodyPr/>
                    <a:lstStyle/>
                    <a:p>
                      <a:pPr algn="ctr"/>
                      <a:r>
                        <a:rPr lang="en-ZA" dirty="0" smtClean="0"/>
                        <a:t>PAPER 1</a:t>
                      </a:r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ZA" sz="20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Algebraic expressions, equations and inequalities 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 (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518072"/>
                  </a:ext>
                </a:extLst>
              </a:tr>
              <a:tr h="454364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patterns 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(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672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Functions and Graphs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 (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6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Finance, growth and decay 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(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021663"/>
                  </a:ext>
                </a:extLst>
              </a:tr>
              <a:tr h="353672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Probability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(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200">
                <a:tc gridSpan="2">
                  <a:txBody>
                    <a:bodyPr/>
                    <a:lstStyle/>
                    <a:p>
                      <a:pPr marL="457200" algn="ctr" defTabSz="914400" rtl="0" eaLnBrk="1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TOTAL</a:t>
                      </a:r>
                      <a:endParaRPr lang="en-GB" sz="16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ctr" defTabSz="914400" rtl="0" eaLnBrk="1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150 (3 Hours)</a:t>
                      </a:r>
                      <a:endParaRPr lang="en-GB" sz="16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672">
                <a:tc rowSpan="4">
                  <a:txBody>
                    <a:bodyPr/>
                    <a:lstStyle/>
                    <a:p>
                      <a:pPr algn="ctr"/>
                      <a:r>
                        <a:rPr lang="en-ZA" dirty="0" smtClean="0"/>
                        <a:t>Paper 2</a:t>
                      </a:r>
                      <a:endParaRPr lang="en-Z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Euclidean Geometry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50 (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686238"/>
                  </a:ext>
                </a:extLst>
              </a:tr>
              <a:tr h="353672">
                <a:tc vMerge="1"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Analytical Geometry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30 (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672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Trigonometry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 (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672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Statistics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(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200">
                <a:tc gridSpan="2">
                  <a:txBody>
                    <a:bodyPr/>
                    <a:lstStyle/>
                    <a:p>
                      <a:pPr marL="457200" algn="ctr" defTabSz="914400" rtl="0" eaLnBrk="1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TOTAL</a:t>
                      </a:r>
                      <a:endParaRPr lang="en-GB" sz="16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150 (</a:t>
                      </a: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(3 Hours)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1"/>
          <p:cNvSpPr txBox="1"/>
          <p:nvPr/>
        </p:nvSpPr>
        <p:spPr>
          <a:xfrm>
            <a:off x="10128448" y="6410203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 smtClean="0"/>
              <a:t>11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2493068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5114D-62F9-4A99-BA0A-D5F8AC11B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543" y="116632"/>
            <a:ext cx="10307488" cy="994121"/>
          </a:xfrm>
        </p:spPr>
        <p:txBody>
          <a:bodyPr>
            <a:noAutofit/>
          </a:bodyPr>
          <a:lstStyle/>
          <a:p>
            <a:pPr marL="457200">
              <a:lnSpc>
                <a:spcPct val="115000"/>
              </a:lnSpc>
              <a:spcAft>
                <a:spcPts val="600"/>
              </a:spcAft>
            </a:pPr>
            <a:r>
              <a:rPr lang="en-US" sz="3200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Content Weightings Grade 12</a:t>
            </a:r>
            <a:endParaRPr lang="en-GB" sz="32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80770888-2D0F-42D0-BA57-9694DB3942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6651282"/>
              </p:ext>
            </p:extLst>
          </p:nvPr>
        </p:nvGraphicFramePr>
        <p:xfrm>
          <a:off x="592173" y="908720"/>
          <a:ext cx="11183415" cy="5250919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952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4616">
                  <a:extLst>
                    <a:ext uri="{9D8B030D-6E8A-4147-A177-3AD203B41FA5}">
                      <a16:colId xmlns:a16="http://schemas.microsoft.com/office/drawing/2014/main" val="3208661167"/>
                    </a:ext>
                  </a:extLst>
                </a:gridCol>
                <a:gridCol w="2686471">
                  <a:extLst>
                    <a:ext uri="{9D8B030D-6E8A-4147-A177-3AD203B41FA5}">
                      <a16:colId xmlns:a16="http://schemas.microsoft.com/office/drawing/2014/main" val="4284890207"/>
                    </a:ext>
                  </a:extLst>
                </a:gridCol>
              </a:tblGrid>
              <a:tr h="863107">
                <a:tc>
                  <a:txBody>
                    <a:bodyPr/>
                    <a:lstStyle/>
                    <a:p>
                      <a:pPr marL="45720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ZA" sz="2400" b="1" kern="1200" dirty="0" smtClean="0">
                          <a:solidFill>
                            <a:schemeClr val="lt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PAPER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smtClean="0"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CONTENT</a:t>
                      </a:r>
                      <a:endParaRPr lang="en-ZA" sz="2400" dirty="0" smtClean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ZA" sz="2400" dirty="0" smtClean="0">
                          <a:effectLst/>
                          <a:latin typeface="Arial" panose="020B0604020202020204" pitchFamily="34" charset="0"/>
                          <a:ea typeface="Calibri"/>
                          <a:cs typeface="Arial" panose="020B0604020202020204" pitchFamily="34" charset="0"/>
                        </a:rPr>
                        <a:t>MARKS </a:t>
                      </a:r>
                      <a:endParaRPr lang="en-ZA" sz="2400" dirty="0">
                        <a:effectLst/>
                        <a:latin typeface="Arial" panose="020B0604020202020204" pitchFamily="34" charset="0"/>
                        <a:ea typeface="Calibri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8034787"/>
                  </a:ext>
                </a:extLst>
              </a:tr>
              <a:tr h="353672">
                <a:tc rowSpan="6">
                  <a:txBody>
                    <a:bodyPr/>
                    <a:lstStyle/>
                    <a:p>
                      <a:pPr algn="ctr"/>
                      <a:r>
                        <a:rPr lang="en-ZA" dirty="0" smtClean="0"/>
                        <a:t>PAPER 1</a:t>
                      </a:r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ZA" sz="20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Algebraic expressions, equations and inequalities 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(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518072"/>
                  </a:ext>
                </a:extLst>
              </a:tr>
              <a:tr h="454364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 patterns 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 (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672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Functions and Graphs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 (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6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Finance, growth and decay 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(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303277"/>
                  </a:ext>
                </a:extLst>
              </a:tr>
              <a:tr h="3536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Differential Calculus 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 (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b="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021663"/>
                  </a:ext>
                </a:extLst>
              </a:tr>
              <a:tr h="353672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Counting Principle and </a:t>
                      </a:r>
                      <a:r>
                        <a:rPr lang="en-ZA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Probability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15 (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5200">
                <a:tc gridSpan="2">
                  <a:txBody>
                    <a:bodyPr/>
                    <a:lstStyle/>
                    <a:p>
                      <a:pPr marL="457200" algn="ctr" defTabSz="914400" rtl="0" eaLnBrk="1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TOTAL</a:t>
                      </a:r>
                      <a:endParaRPr lang="en-GB" sz="16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algn="ctr" defTabSz="914400" rtl="0" eaLnBrk="1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150 (3 Hours)</a:t>
                      </a:r>
                      <a:endParaRPr lang="en-GB" sz="16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672">
                <a:tc rowSpan="4">
                  <a:txBody>
                    <a:bodyPr/>
                    <a:lstStyle/>
                    <a:p>
                      <a:pPr algn="ctr"/>
                      <a:r>
                        <a:rPr lang="en-ZA" dirty="0" smtClean="0"/>
                        <a:t>Paper 2</a:t>
                      </a:r>
                      <a:endParaRPr lang="en-ZA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Euclidean Geometry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 (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686238"/>
                  </a:ext>
                </a:extLst>
              </a:tr>
              <a:tr h="353672">
                <a:tc vMerge="1">
                  <a:txBody>
                    <a:bodyPr/>
                    <a:lstStyle/>
                    <a:p>
                      <a:pPr algn="ctr"/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Analytical Geometry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40 (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672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Trigonometry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50 (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kumimoji="0" lang="en-US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3672">
                <a:tc vMerge="1">
                  <a:txBody>
                    <a:bodyPr/>
                    <a:lstStyle/>
                    <a:p>
                      <a:endParaRPr lang="en-ZA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ZA" sz="20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Statistics </a:t>
                      </a:r>
                      <a:endParaRPr lang="en-ZA" sz="2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 (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Symbol" panose="05050102010706020507" pitchFamily="18" charset="2"/>
                        </a:rPr>
                        <a:t>3</a:t>
                      </a:r>
                      <a:r>
                        <a:rPr lang="en-US" sz="2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ZA" sz="2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5200">
                <a:tc gridSpan="2">
                  <a:txBody>
                    <a:bodyPr/>
                    <a:lstStyle/>
                    <a:p>
                      <a:pPr marL="457200" algn="ctr" defTabSz="914400" rtl="0" eaLnBrk="1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TOTAL</a:t>
                      </a:r>
                      <a:endParaRPr lang="en-GB" sz="1600" b="1" kern="12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marR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j-ea"/>
                          <a:cs typeface="Arial" panose="020B0604020202020204" pitchFamily="34" charset="0"/>
                        </a:rPr>
                        <a:t>150 (</a:t>
                      </a:r>
                      <a:r>
                        <a:rPr lang="en-GB" sz="1600" b="1" kern="1200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(3 Hours)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1"/>
          <p:cNvSpPr txBox="1"/>
          <p:nvPr/>
        </p:nvSpPr>
        <p:spPr>
          <a:xfrm>
            <a:off x="10128448" y="6410203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 smtClean="0"/>
              <a:t>12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4027133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1991544" y="1052736"/>
            <a:ext cx="7578842" cy="990240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ZA" sz="3200" b="1" dirty="0" smtClean="0"/>
              <a:t>CONCLUSION</a:t>
            </a:r>
            <a:endParaRPr lang="en-US" sz="3200" b="1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623392" y="2276872"/>
            <a:ext cx="11026225" cy="2736304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 fontScale="85000" lnSpcReduction="20000"/>
          </a:bodyPr>
          <a:lstStyle/>
          <a:p>
            <a:pPr marL="571500" indent="-457200" algn="just">
              <a:lnSpc>
                <a:spcPct val="115000"/>
              </a:lnSpc>
              <a:tabLst>
                <a:tab pos="540385" algn="l"/>
              </a:tabLst>
            </a:pPr>
            <a:r>
              <a:rPr lang="en-US" b="1" dirty="0" smtClean="0"/>
              <a:t>The implementation of the Mathematics 2023-2024 ATP should be used in conjunction with the FET Curriculum and Assessment Policy Statement (CAPS).</a:t>
            </a:r>
            <a:r>
              <a:rPr lang="en-US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dirty="0" smtClean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457200" algn="just">
              <a:lnSpc>
                <a:spcPct val="115000"/>
              </a:lnSpc>
              <a:tabLst>
                <a:tab pos="540385" algn="l"/>
              </a:tabLst>
            </a:pPr>
            <a:endParaRPr lang="en-US" dirty="0" smtClean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457200" algn="just">
              <a:lnSpc>
                <a:spcPct val="115000"/>
              </a:lnSpc>
              <a:tabLst>
                <a:tab pos="540385" algn="l"/>
              </a:tabLst>
            </a:pPr>
            <a:r>
              <a:rPr lang="en-US" sz="2800" b="1" dirty="0" smtClean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approved textbooks by DBE are still very relevant for Mathematics Grades 10 – 12. </a:t>
            </a:r>
            <a:endParaRPr lang="en-ZA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1"/>
          <p:cNvSpPr txBox="1"/>
          <p:nvPr/>
        </p:nvSpPr>
        <p:spPr>
          <a:xfrm>
            <a:off x="10128448" y="6410203"/>
            <a:ext cx="393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 smtClean="0"/>
              <a:t>13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1770253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3587C-92E3-436B-89B2-FD40E5499F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5864" y="1340769"/>
            <a:ext cx="7772400" cy="1470025"/>
          </a:xfrm>
        </p:spPr>
        <p:txBody>
          <a:bodyPr anchor="ctr">
            <a:normAutofit/>
          </a:bodyPr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Contact Details</a:t>
            </a:r>
            <a:endParaRPr lang="en-GB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3AA92-3A6E-4FB0-AB09-BF236FBC61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1664" y="2852936"/>
            <a:ext cx="6400800" cy="17526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 smtClean="0"/>
              <a:t>LG Mudau </a:t>
            </a:r>
            <a:endParaRPr lang="en-US" sz="2000" dirty="0"/>
          </a:p>
          <a:p>
            <a:pPr>
              <a:lnSpc>
                <a:spcPct val="90000"/>
              </a:lnSpc>
            </a:pPr>
            <a:r>
              <a:rPr lang="en-US" sz="2000" dirty="0" smtClean="0"/>
              <a:t>Mudau.L@dbe.gov.za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5798786"/>
      </p:ext>
    </p:extLst>
  </p:cSld>
  <p:clrMapOvr>
    <a:masterClrMapping/>
  </p:clrMapOvr>
</p:sld>
</file>

<file path=ppt/theme/theme1.xml><?xml version="1.0" encoding="utf-8"?>
<a:theme xmlns:a="http://schemas.openxmlformats.org/drawingml/2006/main" name="New DBE Presentation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1170</TotalTime>
  <Words>867</Words>
  <Application>Microsoft Office PowerPoint</Application>
  <PresentationFormat>Widescreen</PresentationFormat>
  <Paragraphs>213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Narrow</vt:lpstr>
      <vt:lpstr>Calibri</vt:lpstr>
      <vt:lpstr>Symbol</vt:lpstr>
      <vt:lpstr>Times New Roman</vt:lpstr>
      <vt:lpstr>New DBE Presentation template</vt:lpstr>
      <vt:lpstr>             2023  ATP MEDIATION AND  CIRCULAR S33 PRESENTATION  MATHEMATICS  Grade 10 - 12  Implementation date:  01 January 2023        </vt:lpstr>
      <vt:lpstr>Presentation Outline</vt:lpstr>
      <vt:lpstr>Purpose </vt:lpstr>
      <vt:lpstr>Amendments to the Annual Teaching Plan (ATP)</vt:lpstr>
      <vt:lpstr>Amendments to the Annual Teaching Plan (ATP)</vt:lpstr>
      <vt:lpstr>Amendments to the Annual Teaching Plan (ATP)</vt:lpstr>
      <vt:lpstr>Amendments to School Based Assessment (SBA)</vt:lpstr>
      <vt:lpstr>Mathematics FET Weightings on Cognitive Level</vt:lpstr>
      <vt:lpstr>Number of Tasks and Weightings for grades 10-12</vt:lpstr>
      <vt:lpstr>Grade 10 Content Weightings</vt:lpstr>
      <vt:lpstr>Content Weightings Grade 11</vt:lpstr>
      <vt:lpstr>Content Weightings Grade 12</vt:lpstr>
      <vt:lpstr>CONCLUSION</vt:lpstr>
      <vt:lpstr>Contact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2020 Revised Curriculum and Assessment Plans   Computer Applications Technology Grade 10  Implementation:  June 2020</dc:title>
  <dc:creator>Carina Labuscagne</dc:creator>
  <cp:lastModifiedBy>Malope, Noko</cp:lastModifiedBy>
  <cp:revision>130</cp:revision>
  <dcterms:created xsi:type="dcterms:W3CDTF">2020-05-12T20:19:57Z</dcterms:created>
  <dcterms:modified xsi:type="dcterms:W3CDTF">2023-01-22T17:38:34Z</dcterms:modified>
</cp:coreProperties>
</file>